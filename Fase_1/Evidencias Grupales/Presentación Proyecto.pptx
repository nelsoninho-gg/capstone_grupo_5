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Montserrat Bold" charset="1" panose="00000800000000000000"/>
      <p:regular r:id="rId29"/>
    </p:embeddedFont>
    <p:embeddedFont>
      <p:font typeface="Montserrat" charset="1" panose="00000500000000000000"/>
      <p:regular r:id="rId30"/>
    </p:embeddedFont>
    <p:embeddedFont>
      <p:font typeface="Open Sans Bold" charset="1" panose="020B0806030504020204"/>
      <p:regular r:id="rId33"/>
    </p:embeddedFont>
    <p:embeddedFont>
      <p:font typeface="Arial Bold" charset="1" panose="020B0704020202020204"/>
      <p:regular r:id="rId46"/>
    </p:embeddedFont>
    <p:embeddedFont>
      <p:font typeface="Calibri (MS)" charset="1" panose="020F0502020204030204"/>
      <p:regular r:id="rId47"/>
    </p:embeddedFont>
    <p:embeddedFont>
      <p:font typeface="Montserrat Italics" charset="1" panose="00000500000000000000"/>
      <p:regular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notesMasters/notesMaster1.xml" Type="http://schemas.openxmlformats.org/officeDocument/2006/relationships/notesMaster"/><Relationship Id="rId27" Target="theme/theme2.xml" Type="http://schemas.openxmlformats.org/officeDocument/2006/relationships/theme"/><Relationship Id="rId28" Target="notesSlides/notesSlide1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2.xml" Type="http://schemas.openxmlformats.org/officeDocument/2006/relationships/notesSlide"/><Relationship Id="rId32" Target="notesSlides/notesSlide3.xml" Type="http://schemas.openxmlformats.org/officeDocument/2006/relationships/notesSlide"/><Relationship Id="rId33" Target="fonts/font33.fntdata" Type="http://schemas.openxmlformats.org/officeDocument/2006/relationships/font"/><Relationship Id="rId34" Target="notesSlides/notesSlide4.xml" Type="http://schemas.openxmlformats.org/officeDocument/2006/relationships/notesSlide"/><Relationship Id="rId35" Target="notesSlides/notesSlide5.xml" Type="http://schemas.openxmlformats.org/officeDocument/2006/relationships/notesSlide"/><Relationship Id="rId36" Target="notesSlides/notesSlide6.xml" Type="http://schemas.openxmlformats.org/officeDocument/2006/relationships/notesSlide"/><Relationship Id="rId37" Target="notesSlides/notesSlide7.xml" Type="http://schemas.openxmlformats.org/officeDocument/2006/relationships/notesSlide"/><Relationship Id="rId38" Target="notesSlides/notesSlide8.xml" Type="http://schemas.openxmlformats.org/officeDocument/2006/relationships/notesSlide"/><Relationship Id="rId39" Target="notesSlides/notesSlide9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0.xml" Type="http://schemas.openxmlformats.org/officeDocument/2006/relationships/notesSlide"/><Relationship Id="rId41" Target="notesSlides/notesSlide11.xml" Type="http://schemas.openxmlformats.org/officeDocument/2006/relationships/notesSlide"/><Relationship Id="rId42" Target="notesSlides/notesSlide12.xml" Type="http://schemas.openxmlformats.org/officeDocument/2006/relationships/notesSlide"/><Relationship Id="rId43" Target="notesSlides/notesSlide13.xml" Type="http://schemas.openxmlformats.org/officeDocument/2006/relationships/notesSlide"/><Relationship Id="rId44" Target="notesSlides/notesSlide14.xml" Type="http://schemas.openxmlformats.org/officeDocument/2006/relationships/notesSlide"/><Relationship Id="rId45" Target="notesSlides/notesSlide15.xml" Type="http://schemas.openxmlformats.org/officeDocument/2006/relationships/notesSlide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notesSlides/notesSlide16.xml" Type="http://schemas.openxmlformats.org/officeDocument/2006/relationships/notesSlide"/><Relationship Id="rId49" Target="notesSlides/notesSlide17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8.xml" Type="http://schemas.openxmlformats.org/officeDocument/2006/relationships/notesSlide"/><Relationship Id="rId51" Target="notesSlides/notesSlide19.xml" Type="http://schemas.openxmlformats.org/officeDocument/2006/relationships/notesSlide"/><Relationship Id="rId52" Target="notesSlides/notesSlide20.xml" Type="http://schemas.openxmlformats.org/officeDocument/2006/relationships/notesSlide"/><Relationship Id="rId53" Target="fonts/font53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Piña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Piña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Piña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Piña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Piña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Denisse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Denisse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Denisse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Denisse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Santiago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Denisse</a:t>
            </a:r>
          </a:p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Santiago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Denisse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Everyone</a:t>
            </a:r>
          </a:p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Santiago</a:t>
            </a:r>
          </a:p>
          <a:p>
            <a:r>
              <a:rPr lang="en-US"/>
              <a:t>13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Santiago</a:t>
            </a:r>
          </a:p>
          <a:p>
            <a:r>
              <a:rPr lang="en-US"/>
              <a:t>14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Santiago</a:t>
            </a:r>
          </a:p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Piña</a:t>
            </a:r>
          </a:p>
          <a:p>
            <a:r>
              <a:rPr lang="en-US"/>
              <a:t>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Santiago</a:t>
            </a:r>
          </a:p>
          <a:p>
            <a:r>
              <a:rPr lang="en-US"/>
              <a:t>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Everyone</a:t>
            </a:r>
          </a:p>
          <a:p>
            <a:r>
              <a:rPr lang="en-US"/>
              <a:t>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3.jpeg" Type="http://schemas.openxmlformats.org/officeDocument/2006/relationships/image"/><Relationship Id="rId7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notesSlides/notesSlide2.xml" Type="http://schemas.openxmlformats.org/officeDocument/2006/relationships/notesSlid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sv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36.png" Type="http://schemas.openxmlformats.org/officeDocument/2006/relationships/image"/><Relationship Id="rId4" Target="../media/image3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46.png" Type="http://schemas.openxmlformats.org/officeDocument/2006/relationships/image"/><Relationship Id="rId12" Target="../media/image47.png" Type="http://schemas.openxmlformats.org/officeDocument/2006/relationships/image"/><Relationship Id="rId2" Target="../notesSlides/notesSlide13.xml" Type="http://schemas.openxmlformats.org/officeDocument/2006/relationships/notesSlid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Relationship Id="rId6" Target="../media/image41.png" Type="http://schemas.openxmlformats.org/officeDocument/2006/relationships/image"/><Relationship Id="rId7" Target="../media/image42.png" Type="http://schemas.openxmlformats.org/officeDocument/2006/relationships/image"/><Relationship Id="rId8" Target="../media/image43.pn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48.jpeg" Type="http://schemas.openxmlformats.org/officeDocument/2006/relationships/image"/><Relationship Id="rId4" Target="../media/image49.jpeg" Type="http://schemas.openxmlformats.org/officeDocument/2006/relationships/image"/><Relationship Id="rId5" Target="../media/image50.png" Type="http://schemas.openxmlformats.org/officeDocument/2006/relationships/image"/><Relationship Id="rId6" Target="../media/image51.jpeg" Type="http://schemas.openxmlformats.org/officeDocument/2006/relationships/image"/><Relationship Id="rId7" Target="../media/image5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53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53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5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087100" y="0"/>
            <a:ext cx="7200900" cy="10287000"/>
            <a:chOff x="0" y="0"/>
            <a:chExt cx="96012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571" t="0" r="-357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723551"/>
            <a:ext cx="2115225" cy="1190283"/>
            <a:chOff x="0" y="0"/>
            <a:chExt cx="3191472" cy="17959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91510" cy="1795962"/>
            </a:xfrm>
            <a:custGeom>
              <a:avLst/>
              <a:gdLst/>
              <a:ahLst/>
              <a:cxnLst/>
              <a:rect r="r" b="b" t="t" l="l"/>
              <a:pathLst>
                <a:path h="1795962" w="3191510">
                  <a:moveTo>
                    <a:pt x="0" y="0"/>
                  </a:moveTo>
                  <a:lnTo>
                    <a:pt x="3191510" y="0"/>
                  </a:lnTo>
                  <a:lnTo>
                    <a:pt x="3191510" y="1795962"/>
                  </a:lnTo>
                  <a:lnTo>
                    <a:pt x="0" y="1795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8916" r="0" b="-8916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114778" y="2525663"/>
            <a:ext cx="7200454" cy="175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0"/>
              </a:lnSpc>
            </a:pPr>
            <a:r>
              <a:rPr lang="en-US" sz="11187" b="true">
                <a:solidFill>
                  <a:srgbClr val="2E3C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Nury</a:t>
            </a:r>
            <a:r>
              <a:rPr lang="en-US" sz="11187" b="true">
                <a:solidFill>
                  <a:srgbClr val="204C8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7890" y="4259313"/>
            <a:ext cx="9534230" cy="1031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0"/>
              </a:lnSpc>
            </a:pPr>
            <a:r>
              <a:rPr lang="en-US" sz="26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Sistema integral de gestión de ventas, inventario y reportes para Nury's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7890" y="6222321"/>
            <a:ext cx="9534230" cy="306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sz="1687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Integrantes:</a:t>
            </a:r>
            <a:r>
              <a:rPr lang="en-US" sz="1687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Nelson Alfaro, Patricio Menares, Maher Darwish, Sebastian Sepulveda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7890" y="6873593"/>
            <a:ext cx="9534230" cy="306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sz="1687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Docente a cargo:</a:t>
            </a:r>
            <a:r>
              <a:rPr lang="en-US" sz="1687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Mauricio Carlos Figueroa Colarte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47890" y="842810"/>
            <a:ext cx="4988871" cy="566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4"/>
              </a:lnSpc>
            </a:pPr>
            <a:r>
              <a:rPr lang="en-US" sz="4500" b="true">
                <a:solidFill>
                  <a:srgbClr val="2E3C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Tabla de </a:t>
            </a:r>
            <a:r>
              <a:rPr lang="en-US" sz="4500" b="true">
                <a:solidFill>
                  <a:srgbClr val="2589C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Contenidos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47890" y="1788319"/>
            <a:ext cx="4097979" cy="758276"/>
            <a:chOff x="0" y="0"/>
            <a:chExt cx="5463972" cy="1011034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5463921" cy="1011047"/>
            </a:xfrm>
            <a:custGeom>
              <a:avLst/>
              <a:gdLst/>
              <a:ahLst/>
              <a:cxnLst/>
              <a:rect r="r" b="b" t="t" l="l"/>
              <a:pathLst>
                <a:path h="1011047" w="5463921">
                  <a:moveTo>
                    <a:pt x="0" y="0"/>
                  </a:moveTo>
                  <a:lnTo>
                    <a:pt x="5463921" y="0"/>
                  </a:lnTo>
                  <a:lnTo>
                    <a:pt x="5463921" y="1011047"/>
                  </a:lnTo>
                  <a:lnTo>
                    <a:pt x="0" y="1011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72" r="0" b="-272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37342" y="2717006"/>
            <a:ext cx="2993231" cy="393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Contexto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045869" y="1788319"/>
            <a:ext cx="4098131" cy="758276"/>
            <a:chOff x="0" y="0"/>
            <a:chExt cx="5464175" cy="1011034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5464175" cy="1011047"/>
            </a:xfrm>
            <a:custGeom>
              <a:avLst/>
              <a:gdLst/>
              <a:ahLst/>
              <a:cxnLst/>
              <a:rect r="r" b="b" t="t" l="l"/>
              <a:pathLst>
                <a:path h="1011047" w="5464175">
                  <a:moveTo>
                    <a:pt x="0" y="0"/>
                  </a:moveTo>
                  <a:lnTo>
                    <a:pt x="5464175" y="0"/>
                  </a:lnTo>
                  <a:lnTo>
                    <a:pt x="5464175" y="1011047"/>
                  </a:lnTo>
                  <a:lnTo>
                    <a:pt x="0" y="1011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75" r="0" b="-273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235331" y="2717006"/>
            <a:ext cx="2993231" cy="393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144000" y="1788319"/>
            <a:ext cx="4097979" cy="758276"/>
            <a:chOff x="0" y="0"/>
            <a:chExt cx="5463972" cy="1011034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5463921" cy="1011047"/>
            </a:xfrm>
            <a:custGeom>
              <a:avLst/>
              <a:gdLst/>
              <a:ahLst/>
              <a:cxnLst/>
              <a:rect r="r" b="b" t="t" l="l"/>
              <a:pathLst>
                <a:path h="1011047" w="5463921">
                  <a:moveTo>
                    <a:pt x="0" y="0"/>
                  </a:moveTo>
                  <a:lnTo>
                    <a:pt x="5463921" y="0"/>
                  </a:lnTo>
                  <a:lnTo>
                    <a:pt x="5463921" y="1011047"/>
                  </a:lnTo>
                  <a:lnTo>
                    <a:pt x="0" y="1011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72" r="0" b="-272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333462" y="2717006"/>
            <a:ext cx="2993231" cy="393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Necesidad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241979" y="1788319"/>
            <a:ext cx="4098131" cy="758276"/>
            <a:chOff x="0" y="0"/>
            <a:chExt cx="5464175" cy="1011034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5464175" cy="1011047"/>
            </a:xfrm>
            <a:custGeom>
              <a:avLst/>
              <a:gdLst/>
              <a:ahLst/>
              <a:cxnLst/>
              <a:rect r="r" b="b" t="t" l="l"/>
              <a:pathLst>
                <a:path h="1011047" w="5464175">
                  <a:moveTo>
                    <a:pt x="0" y="0"/>
                  </a:moveTo>
                  <a:lnTo>
                    <a:pt x="5464175" y="0"/>
                  </a:lnTo>
                  <a:lnTo>
                    <a:pt x="5464175" y="1011047"/>
                  </a:lnTo>
                  <a:lnTo>
                    <a:pt x="0" y="1011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75" r="0" b="-273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3431441" y="2717006"/>
            <a:ext cx="2993231" cy="393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Solución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47890" y="3716541"/>
            <a:ext cx="4097979" cy="758276"/>
            <a:chOff x="0" y="0"/>
            <a:chExt cx="5463972" cy="1011034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5463921" cy="1011047"/>
            </a:xfrm>
            <a:custGeom>
              <a:avLst/>
              <a:gdLst/>
              <a:ahLst/>
              <a:cxnLst/>
              <a:rect r="r" b="b" t="t" l="l"/>
              <a:pathLst>
                <a:path h="1011047" w="5463921">
                  <a:moveTo>
                    <a:pt x="0" y="0"/>
                  </a:moveTo>
                  <a:lnTo>
                    <a:pt x="5463921" y="0"/>
                  </a:lnTo>
                  <a:lnTo>
                    <a:pt x="5463921" y="1011047"/>
                  </a:lnTo>
                  <a:lnTo>
                    <a:pt x="0" y="1011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72" r="0" b="-272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137342" y="4645228"/>
            <a:ext cx="2748707" cy="36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Requesitos F y NF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045869" y="3716541"/>
            <a:ext cx="4098131" cy="758276"/>
            <a:chOff x="0" y="0"/>
            <a:chExt cx="5464175" cy="1011034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5464175" cy="1011047"/>
            </a:xfrm>
            <a:custGeom>
              <a:avLst/>
              <a:gdLst/>
              <a:ahLst/>
              <a:cxnLst/>
              <a:rect r="r" b="b" t="t" l="l"/>
              <a:pathLst>
                <a:path h="1011047" w="5464175">
                  <a:moveTo>
                    <a:pt x="0" y="0"/>
                  </a:moveTo>
                  <a:lnTo>
                    <a:pt x="5464175" y="0"/>
                  </a:lnTo>
                  <a:lnTo>
                    <a:pt x="5464175" y="1011047"/>
                  </a:lnTo>
                  <a:lnTo>
                    <a:pt x="0" y="1011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75" r="0" b="-273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5235331" y="4645228"/>
            <a:ext cx="998786" cy="36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Epicas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144000" y="3716541"/>
            <a:ext cx="4097979" cy="758276"/>
            <a:chOff x="0" y="0"/>
            <a:chExt cx="5463972" cy="1011034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5463921" cy="1011047"/>
            </a:xfrm>
            <a:custGeom>
              <a:avLst/>
              <a:gdLst/>
              <a:ahLst/>
              <a:cxnLst/>
              <a:rect r="r" b="b" t="t" l="l"/>
              <a:pathLst>
                <a:path h="1011047" w="5463921">
                  <a:moveTo>
                    <a:pt x="0" y="0"/>
                  </a:moveTo>
                  <a:lnTo>
                    <a:pt x="5463921" y="0"/>
                  </a:lnTo>
                  <a:lnTo>
                    <a:pt x="5463921" y="1011047"/>
                  </a:lnTo>
                  <a:lnTo>
                    <a:pt x="0" y="1011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272" r="0" b="-272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9333462" y="4645228"/>
            <a:ext cx="3086100" cy="36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Historias de Usuario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3241979" y="3716541"/>
            <a:ext cx="4098131" cy="758276"/>
            <a:chOff x="0" y="0"/>
            <a:chExt cx="5464175" cy="1011034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5464175" cy="1011047"/>
            </a:xfrm>
            <a:custGeom>
              <a:avLst/>
              <a:gdLst/>
              <a:ahLst/>
              <a:cxnLst/>
              <a:rect r="r" b="b" t="t" l="l"/>
              <a:pathLst>
                <a:path h="1011047" w="5464175">
                  <a:moveTo>
                    <a:pt x="0" y="0"/>
                  </a:moveTo>
                  <a:lnTo>
                    <a:pt x="5464175" y="0"/>
                  </a:lnTo>
                  <a:lnTo>
                    <a:pt x="5464175" y="1011047"/>
                  </a:lnTo>
                  <a:lnTo>
                    <a:pt x="0" y="1011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275" r="0" b="-273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3431441" y="4645228"/>
            <a:ext cx="1968103" cy="36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Arquitectura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47890" y="5644753"/>
            <a:ext cx="4097979" cy="758276"/>
            <a:chOff x="0" y="0"/>
            <a:chExt cx="5463972" cy="1011034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5463921" cy="1011047"/>
            </a:xfrm>
            <a:custGeom>
              <a:avLst/>
              <a:gdLst/>
              <a:ahLst/>
              <a:cxnLst/>
              <a:rect r="r" b="b" t="t" l="l"/>
              <a:pathLst>
                <a:path h="1011047" w="5463921">
                  <a:moveTo>
                    <a:pt x="0" y="0"/>
                  </a:moveTo>
                  <a:lnTo>
                    <a:pt x="5463921" y="0"/>
                  </a:lnTo>
                  <a:lnTo>
                    <a:pt x="5463921" y="1011047"/>
                  </a:lnTo>
                  <a:lnTo>
                    <a:pt x="0" y="1011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272" r="0" b="-272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137342" y="6573441"/>
            <a:ext cx="1937296" cy="36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Metodología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5045869" y="5644753"/>
            <a:ext cx="4098131" cy="758276"/>
            <a:chOff x="0" y="0"/>
            <a:chExt cx="5464175" cy="1011034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5464175" cy="1011047"/>
            </a:xfrm>
            <a:custGeom>
              <a:avLst/>
              <a:gdLst/>
              <a:ahLst/>
              <a:cxnLst/>
              <a:rect r="r" b="b" t="t" l="l"/>
              <a:pathLst>
                <a:path h="1011047" w="5464175">
                  <a:moveTo>
                    <a:pt x="0" y="0"/>
                  </a:moveTo>
                  <a:lnTo>
                    <a:pt x="5464175" y="0"/>
                  </a:lnTo>
                  <a:lnTo>
                    <a:pt x="5464175" y="1011047"/>
                  </a:lnTo>
                  <a:lnTo>
                    <a:pt x="0" y="1011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275" r="0" b="-273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5235331" y="6573441"/>
            <a:ext cx="837902" cy="36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Roles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144000" y="5644753"/>
            <a:ext cx="4097979" cy="758276"/>
            <a:chOff x="0" y="0"/>
            <a:chExt cx="5463972" cy="1011034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5463921" cy="1011047"/>
            </a:xfrm>
            <a:custGeom>
              <a:avLst/>
              <a:gdLst/>
              <a:ahLst/>
              <a:cxnLst/>
              <a:rect r="r" b="b" t="t" l="l"/>
              <a:pathLst>
                <a:path h="1011047" w="5463921">
                  <a:moveTo>
                    <a:pt x="0" y="0"/>
                  </a:moveTo>
                  <a:lnTo>
                    <a:pt x="5463921" y="0"/>
                  </a:lnTo>
                  <a:lnTo>
                    <a:pt x="5463921" y="1011047"/>
                  </a:lnTo>
                  <a:lnTo>
                    <a:pt x="0" y="1011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272" r="0" b="-272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9333462" y="6573441"/>
            <a:ext cx="1651546" cy="36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Evidencias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3241979" y="5644753"/>
            <a:ext cx="4098131" cy="758276"/>
            <a:chOff x="0" y="0"/>
            <a:chExt cx="5464175" cy="1011034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5464175" cy="1011047"/>
            </a:xfrm>
            <a:custGeom>
              <a:avLst/>
              <a:gdLst/>
              <a:ahLst/>
              <a:cxnLst/>
              <a:rect r="r" b="b" t="t" l="l"/>
              <a:pathLst>
                <a:path h="1011047" w="5464175">
                  <a:moveTo>
                    <a:pt x="0" y="0"/>
                  </a:moveTo>
                  <a:lnTo>
                    <a:pt x="5464175" y="0"/>
                  </a:lnTo>
                  <a:lnTo>
                    <a:pt x="5464175" y="1011047"/>
                  </a:lnTo>
                  <a:lnTo>
                    <a:pt x="0" y="1011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275" r="0" b="-273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3431441" y="6573441"/>
            <a:ext cx="3274963" cy="36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</a:t>
            </a:r>
            <a:r>
              <a:rPr lang="en-US" sz="2312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idencias por Sprint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47890" y="7572966"/>
            <a:ext cx="4097979" cy="758276"/>
            <a:chOff x="0" y="0"/>
            <a:chExt cx="5463972" cy="1011034"/>
          </a:xfrm>
        </p:grpSpPr>
        <p:sp>
          <p:nvSpPr>
            <p:cNvPr name="Freeform 46" id="46" descr="preencoded.png"/>
            <p:cNvSpPr/>
            <p:nvPr/>
          </p:nvSpPr>
          <p:spPr>
            <a:xfrm flipH="false" flipV="false" rot="0">
              <a:off x="0" y="0"/>
              <a:ext cx="5463921" cy="1011047"/>
            </a:xfrm>
            <a:custGeom>
              <a:avLst/>
              <a:gdLst/>
              <a:ahLst/>
              <a:cxnLst/>
              <a:rect r="r" b="b" t="t" l="l"/>
              <a:pathLst>
                <a:path h="1011047" w="5463921">
                  <a:moveTo>
                    <a:pt x="0" y="0"/>
                  </a:moveTo>
                  <a:lnTo>
                    <a:pt x="5463921" y="0"/>
                  </a:lnTo>
                  <a:lnTo>
                    <a:pt x="5463921" y="1011047"/>
                  </a:lnTo>
                  <a:lnTo>
                    <a:pt x="0" y="1011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272" r="0" b="-272"/>
              </a:stretch>
            </a:blip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1137342" y="8501653"/>
            <a:ext cx="2993231" cy="393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Definición de Sprints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5045869" y="7572966"/>
            <a:ext cx="4098131" cy="758276"/>
            <a:chOff x="0" y="0"/>
            <a:chExt cx="5464175" cy="1011034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5464175" cy="1011047"/>
            </a:xfrm>
            <a:custGeom>
              <a:avLst/>
              <a:gdLst/>
              <a:ahLst/>
              <a:cxnLst/>
              <a:rect r="r" b="b" t="t" l="l"/>
              <a:pathLst>
                <a:path h="1011047" w="5464175">
                  <a:moveTo>
                    <a:pt x="0" y="0"/>
                  </a:moveTo>
                  <a:lnTo>
                    <a:pt x="5464175" y="0"/>
                  </a:lnTo>
                  <a:lnTo>
                    <a:pt x="5464175" y="1011047"/>
                  </a:lnTo>
                  <a:lnTo>
                    <a:pt x="0" y="1011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275" r="0" b="-273"/>
              </a:stretch>
            </a:blip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5235331" y="8501653"/>
            <a:ext cx="2993231" cy="393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Cronograma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9144000" y="7572966"/>
            <a:ext cx="4097979" cy="758276"/>
            <a:chOff x="0" y="0"/>
            <a:chExt cx="5463972" cy="1011034"/>
          </a:xfrm>
        </p:grpSpPr>
        <p:sp>
          <p:nvSpPr>
            <p:cNvPr name="Freeform 52" id="52" descr="preencoded.png"/>
            <p:cNvSpPr/>
            <p:nvPr/>
          </p:nvSpPr>
          <p:spPr>
            <a:xfrm flipH="false" flipV="false" rot="0">
              <a:off x="0" y="0"/>
              <a:ext cx="5463921" cy="1011047"/>
            </a:xfrm>
            <a:custGeom>
              <a:avLst/>
              <a:gdLst/>
              <a:ahLst/>
              <a:cxnLst/>
              <a:rect r="r" b="b" t="t" l="l"/>
              <a:pathLst>
                <a:path h="1011047" w="5463921">
                  <a:moveTo>
                    <a:pt x="0" y="0"/>
                  </a:moveTo>
                  <a:lnTo>
                    <a:pt x="5463921" y="0"/>
                  </a:lnTo>
                  <a:lnTo>
                    <a:pt x="5463921" y="1011047"/>
                  </a:lnTo>
                  <a:lnTo>
                    <a:pt x="0" y="1011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272" r="0" b="-272"/>
              </a:stretch>
            </a:blip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9333462" y="8501653"/>
            <a:ext cx="3719065" cy="767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Conclusiones y Próximos Pasos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3241979" y="7572966"/>
            <a:ext cx="4098131" cy="758276"/>
            <a:chOff x="0" y="0"/>
            <a:chExt cx="5464175" cy="1011034"/>
          </a:xfrm>
        </p:grpSpPr>
        <p:sp>
          <p:nvSpPr>
            <p:cNvPr name="Freeform 55" id="55" descr="preencoded.png"/>
            <p:cNvSpPr/>
            <p:nvPr/>
          </p:nvSpPr>
          <p:spPr>
            <a:xfrm flipH="false" flipV="false" rot="0">
              <a:off x="0" y="0"/>
              <a:ext cx="5464175" cy="1011047"/>
            </a:xfrm>
            <a:custGeom>
              <a:avLst/>
              <a:gdLst/>
              <a:ahLst/>
              <a:cxnLst/>
              <a:rect r="r" b="b" t="t" l="l"/>
              <a:pathLst>
                <a:path h="1011047" w="5464175">
                  <a:moveTo>
                    <a:pt x="0" y="0"/>
                  </a:moveTo>
                  <a:lnTo>
                    <a:pt x="5464175" y="0"/>
                  </a:lnTo>
                  <a:lnTo>
                    <a:pt x="5464175" y="1011047"/>
                  </a:lnTo>
                  <a:lnTo>
                    <a:pt x="0" y="1011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275" r="0" b="-273"/>
              </a:stretch>
            </a:blip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13431441" y="8501653"/>
            <a:ext cx="2993231" cy="393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Reflexión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5507862" y="9710804"/>
            <a:ext cx="2780138" cy="576196"/>
            <a:chOff x="0" y="0"/>
            <a:chExt cx="3706851" cy="76826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706876" cy="768223"/>
            </a:xfrm>
            <a:custGeom>
              <a:avLst/>
              <a:gdLst/>
              <a:ahLst/>
              <a:cxnLst/>
              <a:rect r="r" b="b" t="t" l="l"/>
              <a:pathLst>
                <a:path h="768223" w="3706876">
                  <a:moveTo>
                    <a:pt x="0" y="0"/>
                  </a:moveTo>
                  <a:lnTo>
                    <a:pt x="3706876" y="0"/>
                  </a:lnTo>
                  <a:lnTo>
                    <a:pt x="3706876" y="768223"/>
                  </a:lnTo>
                  <a:lnTo>
                    <a:pt x="0" y="768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-4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3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890" y="941784"/>
            <a:ext cx="13333362" cy="72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500" b="true">
                <a:solidFill>
                  <a:srgbClr val="2589C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Contexto</a:t>
            </a:r>
            <a:r>
              <a:rPr lang="en-US" sz="4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Centralizando la Gestión de 8 Locales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67070" y="5128956"/>
            <a:ext cx="16392230" cy="38100"/>
            <a:chOff x="0" y="0"/>
            <a:chExt cx="21856306" cy="50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856319" cy="50800"/>
            </a:xfrm>
            <a:custGeom>
              <a:avLst/>
              <a:gdLst/>
              <a:ahLst/>
              <a:cxnLst/>
              <a:rect r="r" b="b" t="t" l="l"/>
              <a:pathLst>
                <a:path h="50800" w="21856319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21830919" y="0"/>
                  </a:lnTo>
                  <a:cubicBezTo>
                    <a:pt x="21844888" y="0"/>
                    <a:pt x="21856319" y="11430"/>
                    <a:pt x="21856319" y="25400"/>
                  </a:cubicBezTo>
                  <a:cubicBezTo>
                    <a:pt x="21856319" y="39370"/>
                    <a:pt x="21844888" y="50800"/>
                    <a:pt x="21830919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4024903" y="4587364"/>
            <a:ext cx="38100" cy="541582"/>
            <a:chOff x="0" y="0"/>
            <a:chExt cx="50800" cy="7221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800" cy="722122"/>
            </a:xfrm>
            <a:custGeom>
              <a:avLst/>
              <a:gdLst/>
              <a:ahLst/>
              <a:cxnLst/>
              <a:rect r="r" b="b" t="t" l="l"/>
              <a:pathLst>
                <a:path h="722122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696722"/>
                  </a:lnTo>
                  <a:cubicBezTo>
                    <a:pt x="50800" y="710692"/>
                    <a:pt x="39370" y="722122"/>
                    <a:pt x="25400" y="722122"/>
                  </a:cubicBezTo>
                  <a:cubicBezTo>
                    <a:pt x="11430" y="722122"/>
                    <a:pt x="0" y="710692"/>
                    <a:pt x="0" y="696722"/>
                  </a:cubicBezTo>
                  <a:close/>
                </a:path>
              </a:pathLst>
            </a:custGeom>
            <a:solidFill>
              <a:srgbClr val="3EA2E2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942455" y="5027457"/>
            <a:ext cx="202997" cy="202997"/>
            <a:chOff x="0" y="0"/>
            <a:chExt cx="270662" cy="2706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0637" cy="270637"/>
            </a:xfrm>
            <a:custGeom>
              <a:avLst/>
              <a:gdLst/>
              <a:ahLst/>
              <a:cxnLst/>
              <a:rect r="r" b="b" t="t" l="l"/>
              <a:pathLst>
                <a:path h="270637" w="270637">
                  <a:moveTo>
                    <a:pt x="0" y="135382"/>
                  </a:moveTo>
                  <a:cubicBezTo>
                    <a:pt x="0" y="60579"/>
                    <a:pt x="60579" y="0"/>
                    <a:pt x="135382" y="0"/>
                  </a:cubicBezTo>
                  <a:cubicBezTo>
                    <a:pt x="210185" y="0"/>
                    <a:pt x="270637" y="60579"/>
                    <a:pt x="270637" y="135382"/>
                  </a:cubicBezTo>
                  <a:cubicBezTo>
                    <a:pt x="270637" y="210185"/>
                    <a:pt x="210058" y="270637"/>
                    <a:pt x="135382" y="270637"/>
                  </a:cubicBezTo>
                  <a:cubicBezTo>
                    <a:pt x="60706" y="270637"/>
                    <a:pt x="0" y="210058"/>
                    <a:pt x="0" y="135382"/>
                  </a:cubicBezTo>
                  <a:close/>
                </a:path>
              </a:pathLst>
            </a:custGeom>
            <a:solidFill>
              <a:srgbClr val="2589C9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602900" y="2765006"/>
            <a:ext cx="4920205" cy="1407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0"/>
              </a:lnSpc>
            </a:pPr>
            <a:r>
              <a:rPr lang="en-US" sz="236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Nury's es una cadena de cafeterías con </a:t>
            </a:r>
            <a:r>
              <a:rPr lang="en-US" sz="236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8 locales</a:t>
            </a:r>
            <a:r>
              <a:rPr lang="en-US" sz="236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5 en Santiago y 3 en </a:t>
            </a:r>
            <a:r>
              <a:rPr lang="en-US" sz="236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Valparaíso.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221686" y="5185176"/>
            <a:ext cx="47625" cy="541582"/>
            <a:chOff x="0" y="0"/>
            <a:chExt cx="63500" cy="7221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" cy="722122"/>
            </a:xfrm>
            <a:custGeom>
              <a:avLst/>
              <a:gdLst/>
              <a:ahLst/>
              <a:cxnLst/>
              <a:rect r="r" b="b" t="t" l="l"/>
              <a:pathLst>
                <a:path h="722122" w="63500">
                  <a:moveTo>
                    <a:pt x="0" y="25400"/>
                  </a:moveTo>
                  <a:cubicBezTo>
                    <a:pt x="0" y="11430"/>
                    <a:pt x="14288" y="0"/>
                    <a:pt x="31750" y="0"/>
                  </a:cubicBezTo>
                  <a:cubicBezTo>
                    <a:pt x="49213" y="0"/>
                    <a:pt x="63500" y="11430"/>
                    <a:pt x="63500" y="25400"/>
                  </a:cubicBezTo>
                  <a:lnTo>
                    <a:pt x="63500" y="696722"/>
                  </a:lnTo>
                  <a:cubicBezTo>
                    <a:pt x="63500" y="710692"/>
                    <a:pt x="49213" y="722122"/>
                    <a:pt x="31750" y="722122"/>
                  </a:cubicBezTo>
                  <a:cubicBezTo>
                    <a:pt x="14288" y="722122"/>
                    <a:pt x="0" y="710692"/>
                    <a:pt x="0" y="696722"/>
                  </a:cubicBezTo>
                  <a:close/>
                </a:path>
              </a:pathLst>
            </a:custGeom>
            <a:solidFill>
              <a:srgbClr val="3EA2E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0" y="5027457"/>
            <a:ext cx="202997" cy="202997"/>
            <a:chOff x="0" y="0"/>
            <a:chExt cx="270662" cy="2706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0637" cy="270637"/>
            </a:xfrm>
            <a:custGeom>
              <a:avLst/>
              <a:gdLst/>
              <a:ahLst/>
              <a:cxnLst/>
              <a:rect r="r" b="b" t="t" l="l"/>
              <a:pathLst>
                <a:path h="270637" w="270637">
                  <a:moveTo>
                    <a:pt x="0" y="135382"/>
                  </a:moveTo>
                  <a:cubicBezTo>
                    <a:pt x="0" y="60579"/>
                    <a:pt x="60579" y="0"/>
                    <a:pt x="135382" y="0"/>
                  </a:cubicBezTo>
                  <a:cubicBezTo>
                    <a:pt x="210185" y="0"/>
                    <a:pt x="270637" y="60579"/>
                    <a:pt x="270637" y="135382"/>
                  </a:cubicBezTo>
                  <a:cubicBezTo>
                    <a:pt x="270637" y="210185"/>
                    <a:pt x="210058" y="270637"/>
                    <a:pt x="135382" y="270637"/>
                  </a:cubicBezTo>
                  <a:cubicBezTo>
                    <a:pt x="60706" y="270637"/>
                    <a:pt x="0" y="210058"/>
                    <a:pt x="0" y="135382"/>
                  </a:cubicBezTo>
                  <a:close/>
                </a:path>
              </a:pathLst>
            </a:custGeom>
            <a:solidFill>
              <a:srgbClr val="2589C9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236273" y="2604359"/>
            <a:ext cx="5103842" cy="1898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36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Actualmente solo se sabe </a:t>
            </a:r>
            <a:r>
              <a:rPr lang="en-US" sz="236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cuánto</a:t>
            </a:r>
            <a:r>
              <a:rPr lang="en-US" sz="236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6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vende</a:t>
            </a:r>
            <a:r>
              <a:rPr lang="en-US" sz="236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cada sucursal (vía Transbank), pero no qué productos lo generan.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908101" y="4503287"/>
            <a:ext cx="38100" cy="541582"/>
            <a:chOff x="0" y="0"/>
            <a:chExt cx="50800" cy="72210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800" cy="722122"/>
            </a:xfrm>
            <a:custGeom>
              <a:avLst/>
              <a:gdLst/>
              <a:ahLst/>
              <a:cxnLst/>
              <a:rect r="r" b="b" t="t" l="l"/>
              <a:pathLst>
                <a:path h="722122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696722"/>
                  </a:lnTo>
                  <a:cubicBezTo>
                    <a:pt x="50800" y="710692"/>
                    <a:pt x="39370" y="722122"/>
                    <a:pt x="25400" y="722122"/>
                  </a:cubicBezTo>
                  <a:cubicBezTo>
                    <a:pt x="11430" y="722122"/>
                    <a:pt x="0" y="710692"/>
                    <a:pt x="0" y="696722"/>
                  </a:cubicBezTo>
                  <a:close/>
                </a:path>
              </a:pathLst>
            </a:custGeom>
            <a:solidFill>
              <a:srgbClr val="3EA2E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4825653" y="5027448"/>
            <a:ext cx="202997" cy="202997"/>
            <a:chOff x="0" y="0"/>
            <a:chExt cx="270662" cy="2706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0637" cy="270637"/>
            </a:xfrm>
            <a:custGeom>
              <a:avLst/>
              <a:gdLst/>
              <a:ahLst/>
              <a:cxnLst/>
              <a:rect r="r" b="b" t="t" l="l"/>
              <a:pathLst>
                <a:path h="270637" w="270637">
                  <a:moveTo>
                    <a:pt x="0" y="135382"/>
                  </a:moveTo>
                  <a:cubicBezTo>
                    <a:pt x="0" y="60579"/>
                    <a:pt x="60579" y="0"/>
                    <a:pt x="135382" y="0"/>
                  </a:cubicBezTo>
                  <a:cubicBezTo>
                    <a:pt x="210185" y="0"/>
                    <a:pt x="270637" y="60579"/>
                    <a:pt x="270637" y="135382"/>
                  </a:cubicBezTo>
                  <a:cubicBezTo>
                    <a:pt x="270637" y="210185"/>
                    <a:pt x="210058" y="270637"/>
                    <a:pt x="135382" y="270637"/>
                  </a:cubicBezTo>
                  <a:cubicBezTo>
                    <a:pt x="60706" y="270637"/>
                    <a:pt x="0" y="210058"/>
                    <a:pt x="0" y="135382"/>
                  </a:cubicBezTo>
                  <a:close/>
                </a:path>
              </a:pathLst>
            </a:custGeom>
            <a:solidFill>
              <a:srgbClr val="2589C9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980757" y="5027457"/>
            <a:ext cx="202997" cy="202997"/>
            <a:chOff x="0" y="0"/>
            <a:chExt cx="270662" cy="270662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270637" cy="270637"/>
            </a:xfrm>
            <a:custGeom>
              <a:avLst/>
              <a:gdLst/>
              <a:ahLst/>
              <a:cxnLst/>
              <a:rect r="r" b="b" t="t" l="l"/>
              <a:pathLst>
                <a:path h="270637" w="270637">
                  <a:moveTo>
                    <a:pt x="0" y="0"/>
                  </a:moveTo>
                  <a:lnTo>
                    <a:pt x="270637" y="0"/>
                  </a:lnTo>
                  <a:lnTo>
                    <a:pt x="270637" y="270637"/>
                  </a:lnTo>
                  <a:lnTo>
                    <a:pt x="0" y="270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9" b="-9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315518" y="5641033"/>
            <a:ext cx="5812336" cy="1884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0"/>
              </a:lnSpc>
            </a:pPr>
            <a:r>
              <a:rPr lang="en-US" sz="236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 proyecto nace del levantamiento directo con Manuel Santana, socio de Nuri's, durante la reunión de requerimientos.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7885" y="9020176"/>
            <a:ext cx="16392230" cy="400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2124">
                <a:solidFill>
                  <a:srgbClr val="75BAE6"/>
                </a:solidFill>
                <a:latin typeface="Montserrat"/>
                <a:ea typeface="Montserrat"/>
                <a:cs typeface="Montserrat"/>
                <a:sym typeface="Montserrat"/>
              </a:rPr>
              <a:t>NuryBase</a:t>
            </a:r>
            <a:r>
              <a:rPr lang="en-US" sz="212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surge para centralizar ventas, inventario y reportes en una sola plataforma.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674354" y="9163050"/>
            <a:ext cx="37698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890" y="1788909"/>
            <a:ext cx="15924009" cy="674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3999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 </a:t>
            </a:r>
            <a:r>
              <a:rPr lang="en-US" sz="3999" b="true">
                <a:solidFill>
                  <a:srgbClr val="2589C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Problema:</a:t>
            </a:r>
            <a:r>
              <a:rPr lang="en-US" sz="3999" b="true">
                <a:solidFill>
                  <a:srgbClr val="2E3C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Sin Trazabilidad de Ventas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985012" y="3482483"/>
            <a:ext cx="5321646" cy="2563568"/>
            <a:chOff x="0" y="0"/>
            <a:chExt cx="7095528" cy="34180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095489" cy="3418078"/>
            </a:xfrm>
            <a:custGeom>
              <a:avLst/>
              <a:gdLst/>
              <a:ahLst/>
              <a:cxnLst/>
              <a:rect r="r" b="b" t="t" l="l"/>
              <a:pathLst>
                <a:path h="3418078" w="7095489">
                  <a:moveTo>
                    <a:pt x="0" y="549783"/>
                  </a:moveTo>
                  <a:cubicBezTo>
                    <a:pt x="0" y="246126"/>
                    <a:pt x="246126" y="0"/>
                    <a:pt x="549783" y="0"/>
                  </a:cubicBezTo>
                  <a:lnTo>
                    <a:pt x="6545707" y="0"/>
                  </a:lnTo>
                  <a:cubicBezTo>
                    <a:pt x="6849363" y="0"/>
                    <a:pt x="7095489" y="246126"/>
                    <a:pt x="7095489" y="549783"/>
                  </a:cubicBezTo>
                  <a:lnTo>
                    <a:pt x="7095489" y="2868295"/>
                  </a:lnTo>
                  <a:cubicBezTo>
                    <a:pt x="7095489" y="3171952"/>
                    <a:pt x="6849363" y="3418078"/>
                    <a:pt x="6545707" y="3418078"/>
                  </a:cubicBezTo>
                  <a:lnTo>
                    <a:pt x="549783" y="3418078"/>
                  </a:lnTo>
                  <a:cubicBezTo>
                    <a:pt x="246126" y="3418078"/>
                    <a:pt x="0" y="3171952"/>
                    <a:pt x="0" y="2868295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63E5F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3940341" y="3781777"/>
            <a:ext cx="3563388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Venta sin Detalle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65282" y="4341809"/>
            <a:ext cx="4513507" cy="1376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2124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Se sabe cuánto se vendió, pero no qué productos lo generaron.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105274" y="3482483"/>
            <a:ext cx="5321798" cy="2563568"/>
            <a:chOff x="0" y="0"/>
            <a:chExt cx="7095731" cy="34180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95617" cy="3418078"/>
            </a:xfrm>
            <a:custGeom>
              <a:avLst/>
              <a:gdLst/>
              <a:ahLst/>
              <a:cxnLst/>
              <a:rect r="r" b="b" t="t" l="l"/>
              <a:pathLst>
                <a:path h="3418078" w="7095617">
                  <a:moveTo>
                    <a:pt x="0" y="549783"/>
                  </a:moveTo>
                  <a:cubicBezTo>
                    <a:pt x="0" y="246126"/>
                    <a:pt x="246126" y="0"/>
                    <a:pt x="549783" y="0"/>
                  </a:cubicBezTo>
                  <a:lnTo>
                    <a:pt x="6545834" y="0"/>
                  </a:lnTo>
                  <a:cubicBezTo>
                    <a:pt x="6849490" y="0"/>
                    <a:pt x="7095617" y="246126"/>
                    <a:pt x="7095617" y="549783"/>
                  </a:cubicBezTo>
                  <a:lnTo>
                    <a:pt x="7095617" y="2868295"/>
                  </a:lnTo>
                  <a:cubicBezTo>
                    <a:pt x="7095617" y="3171952"/>
                    <a:pt x="6849490" y="3418078"/>
                    <a:pt x="6545834" y="3418078"/>
                  </a:cubicBezTo>
                  <a:lnTo>
                    <a:pt x="549783" y="3418078"/>
                  </a:lnTo>
                  <a:cubicBezTo>
                    <a:pt x="246126" y="3418078"/>
                    <a:pt x="0" y="3171952"/>
                    <a:pt x="0" y="2868295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63E5F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0712066" y="3798068"/>
            <a:ext cx="4108214" cy="44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Productos sin Códigos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09344" y="4341809"/>
            <a:ext cx="4513659" cy="125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2124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Productos como Empanadas no cuentan con codigos escaneables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954894" y="6207976"/>
            <a:ext cx="5351764" cy="2563568"/>
            <a:chOff x="0" y="0"/>
            <a:chExt cx="7135686" cy="34180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35622" cy="3418078"/>
            </a:xfrm>
            <a:custGeom>
              <a:avLst/>
              <a:gdLst/>
              <a:ahLst/>
              <a:cxnLst/>
              <a:rect r="r" b="b" t="t" l="l"/>
              <a:pathLst>
                <a:path h="3418078" w="7135622">
                  <a:moveTo>
                    <a:pt x="0" y="549783"/>
                  </a:moveTo>
                  <a:cubicBezTo>
                    <a:pt x="0" y="246126"/>
                    <a:pt x="246126" y="0"/>
                    <a:pt x="549783" y="0"/>
                  </a:cubicBezTo>
                  <a:lnTo>
                    <a:pt x="6585839" y="0"/>
                  </a:lnTo>
                  <a:cubicBezTo>
                    <a:pt x="6889496" y="0"/>
                    <a:pt x="7135622" y="246126"/>
                    <a:pt x="7135622" y="549783"/>
                  </a:cubicBezTo>
                  <a:lnTo>
                    <a:pt x="7135622" y="2868295"/>
                  </a:lnTo>
                  <a:cubicBezTo>
                    <a:pt x="7135622" y="3171952"/>
                    <a:pt x="6889496" y="3418078"/>
                    <a:pt x="6585839" y="3418078"/>
                  </a:cubicBezTo>
                  <a:lnTo>
                    <a:pt x="549783" y="3418078"/>
                  </a:lnTo>
                  <a:cubicBezTo>
                    <a:pt x="246126" y="3418078"/>
                    <a:pt x="0" y="3171952"/>
                    <a:pt x="0" y="2868295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63E5F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3940332" y="6507270"/>
            <a:ext cx="3563388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Stock Descuadrado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65272" y="7067312"/>
            <a:ext cx="4513507" cy="1376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2124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Cada 3-4 meses el stock teórico no coincide con el físico.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105274" y="6207976"/>
            <a:ext cx="5351764" cy="2563568"/>
            <a:chOff x="0" y="0"/>
            <a:chExt cx="7135686" cy="34180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35622" cy="3418078"/>
            </a:xfrm>
            <a:custGeom>
              <a:avLst/>
              <a:gdLst/>
              <a:ahLst/>
              <a:cxnLst/>
              <a:rect r="r" b="b" t="t" l="l"/>
              <a:pathLst>
                <a:path h="3418078" w="7135622">
                  <a:moveTo>
                    <a:pt x="0" y="549783"/>
                  </a:moveTo>
                  <a:cubicBezTo>
                    <a:pt x="0" y="246126"/>
                    <a:pt x="246126" y="0"/>
                    <a:pt x="549783" y="0"/>
                  </a:cubicBezTo>
                  <a:lnTo>
                    <a:pt x="6585839" y="0"/>
                  </a:lnTo>
                  <a:cubicBezTo>
                    <a:pt x="6889496" y="0"/>
                    <a:pt x="7135622" y="246126"/>
                    <a:pt x="7135622" y="549783"/>
                  </a:cubicBezTo>
                  <a:lnTo>
                    <a:pt x="7135622" y="2868295"/>
                  </a:lnTo>
                  <a:cubicBezTo>
                    <a:pt x="7135622" y="3171952"/>
                    <a:pt x="6889496" y="3418078"/>
                    <a:pt x="6585839" y="3418078"/>
                  </a:cubicBezTo>
                  <a:lnTo>
                    <a:pt x="549783" y="3418078"/>
                  </a:lnTo>
                  <a:cubicBezTo>
                    <a:pt x="246126" y="3418078"/>
                    <a:pt x="0" y="3171952"/>
                    <a:pt x="0" y="2868295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63E5F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0635576" y="6507270"/>
            <a:ext cx="4291161" cy="441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Productos Compuestos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524403" y="7067312"/>
            <a:ext cx="4513507" cy="1176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6"/>
              </a:lnSpc>
            </a:pPr>
            <a:r>
              <a:rPr lang="en-US" sz="20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Dificultad para gestionar productos con múltiples componentes o personalizaciones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674354" y="9163050"/>
            <a:ext cx="37698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2E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347795" cy="10287000"/>
            <a:chOff x="0" y="0"/>
            <a:chExt cx="9797059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9703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797034">
                  <a:moveTo>
                    <a:pt x="0" y="0"/>
                  </a:moveTo>
                  <a:lnTo>
                    <a:pt x="9797034" y="0"/>
                  </a:lnTo>
                  <a:lnTo>
                    <a:pt x="979703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000" t="0" r="-2000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786840" y="2749601"/>
            <a:ext cx="4669784" cy="3008862"/>
            <a:chOff x="0" y="0"/>
            <a:chExt cx="6226378" cy="40118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26429" cy="4011803"/>
            </a:xfrm>
            <a:custGeom>
              <a:avLst/>
              <a:gdLst/>
              <a:ahLst/>
              <a:cxnLst/>
              <a:rect r="r" b="b" t="t" l="l"/>
              <a:pathLst>
                <a:path h="4011803" w="6226429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lnTo>
                    <a:pt x="5677789" y="0"/>
                  </a:lnTo>
                  <a:cubicBezTo>
                    <a:pt x="5980811" y="0"/>
                    <a:pt x="6226429" y="245618"/>
                    <a:pt x="6226429" y="548640"/>
                  </a:cubicBezTo>
                  <a:lnTo>
                    <a:pt x="6226429" y="3463163"/>
                  </a:lnTo>
                  <a:cubicBezTo>
                    <a:pt x="6226429" y="3766185"/>
                    <a:pt x="5980811" y="4011803"/>
                    <a:pt x="5677789" y="4011803"/>
                  </a:cubicBezTo>
                  <a:lnTo>
                    <a:pt x="548640" y="4011803"/>
                  </a:lnTo>
                  <a:cubicBezTo>
                    <a:pt x="245618" y="4011803"/>
                    <a:pt x="0" y="3766185"/>
                    <a:pt x="0" y="3463163"/>
                  </a:cubicBezTo>
                  <a:close/>
                </a:path>
              </a:pathLst>
            </a:custGeom>
            <a:solidFill>
              <a:srgbClr val="F4FBFF"/>
            </a:solidFill>
            <a:ln w="38100" cap="sq">
              <a:solidFill>
                <a:srgbClr val="063E5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689234" y="2749601"/>
            <a:ext cx="4669927" cy="3008862"/>
            <a:chOff x="0" y="0"/>
            <a:chExt cx="6226569" cy="40118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26556" cy="4011803"/>
            </a:xfrm>
            <a:custGeom>
              <a:avLst/>
              <a:gdLst/>
              <a:ahLst/>
              <a:cxnLst/>
              <a:rect r="r" b="b" t="t" l="l"/>
              <a:pathLst>
                <a:path h="4011803" w="6226556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lnTo>
                    <a:pt x="5677916" y="0"/>
                  </a:lnTo>
                  <a:cubicBezTo>
                    <a:pt x="5980938" y="0"/>
                    <a:pt x="6226556" y="245618"/>
                    <a:pt x="6226556" y="548640"/>
                  </a:cubicBezTo>
                  <a:lnTo>
                    <a:pt x="6226556" y="3463163"/>
                  </a:lnTo>
                  <a:cubicBezTo>
                    <a:pt x="6226556" y="3766185"/>
                    <a:pt x="5980938" y="4011803"/>
                    <a:pt x="5677916" y="4011803"/>
                  </a:cubicBezTo>
                  <a:lnTo>
                    <a:pt x="548640" y="4011803"/>
                  </a:lnTo>
                  <a:cubicBezTo>
                    <a:pt x="245618" y="4011803"/>
                    <a:pt x="0" y="3766185"/>
                    <a:pt x="0" y="3463163"/>
                  </a:cubicBezTo>
                  <a:close/>
                </a:path>
              </a:pathLst>
            </a:custGeom>
            <a:solidFill>
              <a:srgbClr val="F4FBFF"/>
            </a:solidFill>
            <a:ln w="38100" cap="sq">
              <a:solidFill>
                <a:srgbClr val="063E5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7786840" y="5991073"/>
            <a:ext cx="4669784" cy="2563568"/>
            <a:chOff x="0" y="0"/>
            <a:chExt cx="6226378" cy="34180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226302" cy="3418078"/>
            </a:xfrm>
            <a:custGeom>
              <a:avLst/>
              <a:gdLst/>
              <a:ahLst/>
              <a:cxnLst/>
              <a:rect r="r" b="b" t="t" l="l"/>
              <a:pathLst>
                <a:path h="3418078" w="6226302">
                  <a:moveTo>
                    <a:pt x="0" y="549783"/>
                  </a:moveTo>
                  <a:cubicBezTo>
                    <a:pt x="0" y="246126"/>
                    <a:pt x="246126" y="0"/>
                    <a:pt x="549783" y="0"/>
                  </a:cubicBezTo>
                  <a:lnTo>
                    <a:pt x="5676519" y="0"/>
                  </a:lnTo>
                  <a:cubicBezTo>
                    <a:pt x="5980176" y="0"/>
                    <a:pt x="6226302" y="246126"/>
                    <a:pt x="6226302" y="549783"/>
                  </a:cubicBezTo>
                  <a:lnTo>
                    <a:pt x="6226302" y="2868295"/>
                  </a:lnTo>
                  <a:cubicBezTo>
                    <a:pt x="6226302" y="3171952"/>
                    <a:pt x="5980176" y="3418078"/>
                    <a:pt x="5676519" y="3418078"/>
                  </a:cubicBezTo>
                  <a:lnTo>
                    <a:pt x="549783" y="3418078"/>
                  </a:lnTo>
                  <a:cubicBezTo>
                    <a:pt x="246126" y="3418078"/>
                    <a:pt x="0" y="3171952"/>
                    <a:pt x="0" y="2868295"/>
                  </a:cubicBezTo>
                  <a:close/>
                </a:path>
              </a:pathLst>
            </a:custGeom>
            <a:solidFill>
              <a:srgbClr val="F4FBFF"/>
            </a:solidFill>
            <a:ln w="38100" cap="sq">
              <a:solidFill>
                <a:srgbClr val="063E5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689234" y="5991073"/>
            <a:ext cx="4669927" cy="2563568"/>
            <a:chOff x="0" y="0"/>
            <a:chExt cx="6226569" cy="34180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26556" cy="3418078"/>
            </a:xfrm>
            <a:custGeom>
              <a:avLst/>
              <a:gdLst/>
              <a:ahLst/>
              <a:cxnLst/>
              <a:rect r="r" b="b" t="t" l="l"/>
              <a:pathLst>
                <a:path h="3418078" w="6226556">
                  <a:moveTo>
                    <a:pt x="0" y="549783"/>
                  </a:moveTo>
                  <a:cubicBezTo>
                    <a:pt x="0" y="246126"/>
                    <a:pt x="246126" y="0"/>
                    <a:pt x="549783" y="0"/>
                  </a:cubicBezTo>
                  <a:lnTo>
                    <a:pt x="5676773" y="0"/>
                  </a:lnTo>
                  <a:cubicBezTo>
                    <a:pt x="5980430" y="0"/>
                    <a:pt x="6226556" y="246126"/>
                    <a:pt x="6226556" y="549783"/>
                  </a:cubicBezTo>
                  <a:lnTo>
                    <a:pt x="6226556" y="2868295"/>
                  </a:lnTo>
                  <a:cubicBezTo>
                    <a:pt x="6226556" y="3171952"/>
                    <a:pt x="5980430" y="3418078"/>
                    <a:pt x="5676773" y="3418078"/>
                  </a:cubicBezTo>
                  <a:lnTo>
                    <a:pt x="549783" y="3418078"/>
                  </a:lnTo>
                  <a:cubicBezTo>
                    <a:pt x="246126" y="3418078"/>
                    <a:pt x="0" y="3171952"/>
                    <a:pt x="0" y="2868295"/>
                  </a:cubicBezTo>
                  <a:close/>
                </a:path>
              </a:pathLst>
            </a:custGeom>
            <a:solidFill>
              <a:srgbClr val="F4FBFF"/>
            </a:solidFill>
            <a:ln w="38100" cap="sq">
              <a:solidFill>
                <a:srgbClr val="063E5F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7805890" y="1741884"/>
            <a:ext cx="5701608" cy="72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500" b="true">
                <a:solidFill>
                  <a:srgbClr val="2589C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Necesidad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90900" y="3048895"/>
            <a:ext cx="3861645" cy="919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Sistema Centralizado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27489" y="4177832"/>
            <a:ext cx="4188466" cy="828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2124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Unificar ventas, inventario, y reportes.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207680" y="3231432"/>
            <a:ext cx="3633043" cy="44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Ingreso de Facturas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91500" y="3848319"/>
            <a:ext cx="4065394" cy="125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2124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Reducir el ingreso manual de facturas con lectura automática.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340023" y="6283919"/>
            <a:ext cx="3563388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Stock Trazable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024708" y="6849418"/>
            <a:ext cx="4191248" cy="1376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2124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Saber con certeza por qué el stock teórico no coincide con el físico.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71707" y="6290367"/>
            <a:ext cx="4103942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Decisiones con Datos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03778" y="6849418"/>
            <a:ext cx="4039791" cy="1376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2124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Usar reportes e IA para saber qué se vende más y ajustar compras y precios.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674354" y="9163050"/>
            <a:ext cx="37698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2E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3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022" y="4732239"/>
            <a:ext cx="820079" cy="815979"/>
          </a:xfrm>
          <a:custGeom>
            <a:avLst/>
            <a:gdLst/>
            <a:ahLst/>
            <a:cxnLst/>
            <a:rect r="r" b="b" t="t" l="l"/>
            <a:pathLst>
              <a:path h="815979" w="820079">
                <a:moveTo>
                  <a:pt x="0" y="0"/>
                </a:moveTo>
                <a:lnTo>
                  <a:pt x="820079" y="0"/>
                </a:lnTo>
                <a:lnTo>
                  <a:pt x="820079" y="815979"/>
                </a:lnTo>
                <a:lnTo>
                  <a:pt x="0" y="8159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72551" y="4751418"/>
            <a:ext cx="777621" cy="777621"/>
          </a:xfrm>
          <a:custGeom>
            <a:avLst/>
            <a:gdLst/>
            <a:ahLst/>
            <a:cxnLst/>
            <a:rect r="r" b="b" t="t" l="l"/>
            <a:pathLst>
              <a:path h="777621" w="777621">
                <a:moveTo>
                  <a:pt x="0" y="0"/>
                </a:moveTo>
                <a:lnTo>
                  <a:pt x="777621" y="0"/>
                </a:lnTo>
                <a:lnTo>
                  <a:pt x="777621" y="777621"/>
                </a:lnTo>
                <a:lnTo>
                  <a:pt x="0" y="7776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6734" y="7232711"/>
            <a:ext cx="1038654" cy="612806"/>
          </a:xfrm>
          <a:custGeom>
            <a:avLst/>
            <a:gdLst/>
            <a:ahLst/>
            <a:cxnLst/>
            <a:rect r="r" b="b" t="t" l="l"/>
            <a:pathLst>
              <a:path h="612806" w="1038654">
                <a:moveTo>
                  <a:pt x="0" y="0"/>
                </a:moveTo>
                <a:lnTo>
                  <a:pt x="1038654" y="0"/>
                </a:lnTo>
                <a:lnTo>
                  <a:pt x="1038654" y="612805"/>
                </a:lnTo>
                <a:lnTo>
                  <a:pt x="0" y="6128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13049" y="7118463"/>
            <a:ext cx="647802" cy="841301"/>
          </a:xfrm>
          <a:custGeom>
            <a:avLst/>
            <a:gdLst/>
            <a:ahLst/>
            <a:cxnLst/>
            <a:rect r="r" b="b" t="t" l="l"/>
            <a:pathLst>
              <a:path h="841301" w="647802">
                <a:moveTo>
                  <a:pt x="0" y="0"/>
                </a:moveTo>
                <a:lnTo>
                  <a:pt x="647802" y="0"/>
                </a:lnTo>
                <a:lnTo>
                  <a:pt x="647802" y="841301"/>
                </a:lnTo>
                <a:lnTo>
                  <a:pt x="0" y="8413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47890" y="1038225"/>
            <a:ext cx="5416448" cy="667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4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Nuestra</a:t>
            </a:r>
            <a:r>
              <a:rPr lang="en-US" sz="4500" b="true">
                <a:solidFill>
                  <a:srgbClr val="2589C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Solución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88775" y="2003231"/>
            <a:ext cx="15710449" cy="2252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86"/>
              </a:lnSpc>
            </a:pPr>
            <a:r>
              <a:rPr lang="en-US" sz="6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Gestión Inteligente para Nury's</a:t>
            </a:r>
          </a:p>
          <a:p>
            <a:pPr algn="ctr">
              <a:lnSpc>
                <a:spcPts val="9187"/>
              </a:lnSpc>
            </a:pPr>
            <a:r>
              <a:rPr lang="en-US" sz="6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“Nury </a:t>
            </a:r>
            <a:r>
              <a:rPr lang="en-US" sz="6000" b="true">
                <a:solidFill>
                  <a:srgbClr val="55ADC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Base</a:t>
            </a:r>
            <a:r>
              <a:rPr lang="en-US" sz="6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74675" y="4944580"/>
            <a:ext cx="6452601" cy="37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3"/>
              </a:lnSpc>
            </a:pPr>
            <a:r>
              <a:rPr lang="en-US" sz="23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Lectura Automática de Facturas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74675" y="5474408"/>
            <a:ext cx="6942087" cy="766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Obtiene y procesa las facturas de compra directamente, sin digitación manual.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57138" y="4944580"/>
            <a:ext cx="6942087" cy="37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3"/>
              </a:lnSpc>
            </a:pPr>
            <a:r>
              <a:rPr lang="en-US" sz="23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Control de Inventario en Tiempo Real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57138" y="5474408"/>
            <a:ext cx="6942087" cy="766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Descuenta automáticamente el stock con cada venta y mantiene el inventario actualizado por sucursal.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74675" y="7333147"/>
            <a:ext cx="6717403" cy="37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3"/>
              </a:lnSpc>
            </a:pPr>
            <a:r>
              <a:rPr lang="en-US" sz="23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Productos Compuestos y Códigos Internos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74675" y="7834670"/>
            <a:ext cx="6942087" cy="88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Permite definir recetas/componentes y asignar códigos propios a productos sin código de barra.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57138" y="7343465"/>
            <a:ext cx="6285941" cy="37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3"/>
              </a:lnSpc>
            </a:pPr>
            <a:r>
              <a:rPr lang="en-US" sz="23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Reportes con Inteligencia Artificial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57138" y="7834670"/>
            <a:ext cx="6942087" cy="88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Analiza patrones de venta para identificar productos de mayor rotación y apoyar decisiones comerciales.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674354" y="9163050"/>
            <a:ext cx="37698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890" y="895350"/>
            <a:ext cx="8732193" cy="693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500" b="true">
                <a:solidFill>
                  <a:srgbClr val="2589C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Requerimientos</a:t>
            </a:r>
            <a:r>
              <a:rPr lang="en-US" sz="4500" b="true">
                <a:solidFill>
                  <a:srgbClr val="2E3C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Funcionales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71500" y="1809750"/>
            <a:ext cx="17145000" cy="400050"/>
            <a:chOff x="0" y="0"/>
            <a:chExt cx="22860000" cy="533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60000" cy="533400"/>
            </a:xfrm>
            <a:custGeom>
              <a:avLst/>
              <a:gdLst/>
              <a:ahLst/>
              <a:cxnLst/>
              <a:rect r="r" b="b" t="t" l="l"/>
              <a:pathLst>
                <a:path h="5334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063E5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28600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90550" y="1900238"/>
            <a:ext cx="205740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86050" y="1900238"/>
            <a:ext cx="120015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Nombre RF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24300" y="1900238"/>
            <a:ext cx="100965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Tipo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72050" y="1900238"/>
            <a:ext cx="186690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Actores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77050" y="1895475"/>
            <a:ext cx="1082040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37"/>
              </a:lnSpc>
              <a:spcBef>
                <a:spcPct val="0"/>
              </a:spcBef>
            </a:pPr>
            <a:r>
              <a:rPr lang="en-US" b="true" sz="1447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Descripción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71500" y="2209800"/>
            <a:ext cx="17145000" cy="361950"/>
            <a:chOff x="0" y="0"/>
            <a:chExt cx="22860000" cy="482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F4FB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8600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09600" y="2295525"/>
            <a:ext cx="2019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Gestión de Usuarios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05100" y="2295525"/>
            <a:ext cx="11620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RF 1.1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43350" y="2295525"/>
            <a:ext cx="9715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Funcional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91100" y="2295525"/>
            <a:ext cx="18288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Usuarios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96100" y="2295525"/>
            <a:ext cx="10782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19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Validar identidad mediante credenciales únicas (correo y contraseña)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71500" y="2571750"/>
            <a:ext cx="17145000" cy="361950"/>
            <a:chOff x="0" y="0"/>
            <a:chExt cx="22860000" cy="482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28600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09600" y="2657475"/>
            <a:ext cx="2019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Gestión de Usuarios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705100" y="2657475"/>
            <a:ext cx="11620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RF 1.2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943350" y="2657475"/>
            <a:ext cx="9715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Funcional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991100" y="2657475"/>
            <a:ext cx="18288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Usuarios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96100" y="2657475"/>
            <a:ext cx="10782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19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Mantener sesión activa y destruirla al cerrar sesión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571500" y="2933700"/>
            <a:ext cx="17145000" cy="361950"/>
            <a:chOff x="0" y="0"/>
            <a:chExt cx="22860000" cy="482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AFCBF8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228600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609600" y="3019425"/>
            <a:ext cx="2019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Gestión de Usuarios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705100" y="3019425"/>
            <a:ext cx="11620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RF 1.3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943350" y="3019425"/>
            <a:ext cx="9715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Funcional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991100" y="3019425"/>
            <a:ext cx="18288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Admin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896100" y="3019425"/>
            <a:ext cx="10782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b="true" sz="1199" strike="noStrike" u="none">
                <a:solidFill>
                  <a:srgbClr val="2E3C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Restringir vistas y accesos según rol: Cajero, Admin, Bodeguero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571500" y="3295650"/>
            <a:ext cx="17145000" cy="361950"/>
            <a:chOff x="0" y="0"/>
            <a:chExt cx="22860000" cy="482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228600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609600" y="3381375"/>
            <a:ext cx="2019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Gestión de Usuarios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705100" y="3381375"/>
            <a:ext cx="11620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RF 1.4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943350" y="3381375"/>
            <a:ext cx="9715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Funcional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991100" y="3381375"/>
            <a:ext cx="18288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Admin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896100" y="3381375"/>
            <a:ext cx="10782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19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Bloquear peticiones backend no autorizadas según rol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571500" y="3657600"/>
            <a:ext cx="17145000" cy="361950"/>
            <a:chOff x="0" y="0"/>
            <a:chExt cx="22860000" cy="4826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AFCBF8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228600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609600" y="3743325"/>
            <a:ext cx="2019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Punto de Venta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705100" y="3743325"/>
            <a:ext cx="11620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RF 2.1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943350" y="3743325"/>
            <a:ext cx="9715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Funcional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991100" y="3743325"/>
            <a:ext cx="18288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Cajero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896100" y="3743325"/>
            <a:ext cx="10782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b="true" sz="1199" strike="noStrike" u="none">
                <a:solidFill>
                  <a:srgbClr val="2E3C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Capturar códigos de barra/QR con pistola o cámara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571500" y="4019550"/>
            <a:ext cx="17145000" cy="361950"/>
            <a:chOff x="0" y="0"/>
            <a:chExt cx="22860000" cy="4826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228600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609600" y="4105275"/>
            <a:ext cx="2019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Punto de Venta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705100" y="4105275"/>
            <a:ext cx="11620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RF 2.2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943350" y="4105275"/>
            <a:ext cx="9715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Funcional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991100" y="4105275"/>
            <a:ext cx="18288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Cajero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896100" y="4105275"/>
            <a:ext cx="10782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19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Búsqueda manual por texto y catálogo visual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571500" y="4381500"/>
            <a:ext cx="17145000" cy="361950"/>
            <a:chOff x="0" y="0"/>
            <a:chExt cx="22860000" cy="4826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F4FBFF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228600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609600" y="4467225"/>
            <a:ext cx="2019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Punto de Venta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2705100" y="4467225"/>
            <a:ext cx="11620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RF 2.3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3943350" y="4467225"/>
            <a:ext cx="9715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Funcional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4991100" y="4467225"/>
            <a:ext cx="18288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Cajero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6896100" y="4467225"/>
            <a:ext cx="10782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19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Procesar códigos internos propios de Nury's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571500" y="4743450"/>
            <a:ext cx="17145000" cy="361950"/>
            <a:chOff x="0" y="0"/>
            <a:chExt cx="22860000" cy="4826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228600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609600" y="4829175"/>
            <a:ext cx="2019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Punto de Venta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2705100" y="4829175"/>
            <a:ext cx="11620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RF 2.4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3943350" y="4829175"/>
            <a:ext cx="9715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Funcional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4991100" y="4829175"/>
            <a:ext cx="18288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Cajero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6896100" y="4829175"/>
            <a:ext cx="10782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19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Registrar forma de pago: efectivo o tarjeta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571500" y="5105400"/>
            <a:ext cx="17145000" cy="361950"/>
            <a:chOff x="0" y="0"/>
            <a:chExt cx="22860000" cy="4826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AFCBF8"/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228600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609600" y="5191125"/>
            <a:ext cx="2019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Punto de Venta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2705100" y="5191125"/>
            <a:ext cx="11620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RF 2.5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3943350" y="5191125"/>
            <a:ext cx="9715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Funcional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4991100" y="5191125"/>
            <a:ext cx="18288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Cajero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6896100" y="5191125"/>
            <a:ext cx="10782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b="true" sz="1199" strike="noStrike" u="none">
                <a:solidFill>
                  <a:srgbClr val="2E3C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Descuento automático de insumos según receta al vender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571500" y="5467350"/>
            <a:ext cx="17145000" cy="361950"/>
            <a:chOff x="0" y="0"/>
            <a:chExt cx="22860000" cy="4826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228600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sp>
        <p:nvSpPr>
          <p:cNvPr name="TextBox 86" id="86"/>
          <p:cNvSpPr txBox="true"/>
          <p:nvPr/>
        </p:nvSpPr>
        <p:spPr>
          <a:xfrm rot="0">
            <a:off x="609600" y="5553075"/>
            <a:ext cx="2019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Punto de Venta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2705100" y="5553075"/>
            <a:ext cx="11620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RF 2.6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3943350" y="5553075"/>
            <a:ext cx="9715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Funcional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4991100" y="5553075"/>
            <a:ext cx="18288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Cajero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6896100" y="5553075"/>
            <a:ext cx="10782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19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Consultar historial de ventas del turno activo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571500" y="5829300"/>
            <a:ext cx="17145000" cy="361950"/>
            <a:chOff x="0" y="0"/>
            <a:chExt cx="22860000" cy="4826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F4FBFF"/>
            </a:solid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47625"/>
              <a:ext cx="228600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sp>
        <p:nvSpPr>
          <p:cNvPr name="TextBox 94" id="94"/>
          <p:cNvSpPr txBox="true"/>
          <p:nvPr/>
        </p:nvSpPr>
        <p:spPr>
          <a:xfrm rot="0">
            <a:off x="609600" y="5915025"/>
            <a:ext cx="2019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Punto de Venta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2705100" y="5915025"/>
            <a:ext cx="11620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RF 2.8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3943350" y="5915025"/>
            <a:ext cx="9715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Funcional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4991100" y="5915025"/>
            <a:ext cx="18288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Cajero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6896100" y="5915025"/>
            <a:ext cx="10782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19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Cierre de caja con montos por tipo de pago</a:t>
            </a:r>
          </a:p>
        </p:txBody>
      </p:sp>
      <p:grpSp>
        <p:nvGrpSpPr>
          <p:cNvPr name="Group 99" id="99"/>
          <p:cNvGrpSpPr/>
          <p:nvPr/>
        </p:nvGrpSpPr>
        <p:grpSpPr>
          <a:xfrm rot="0">
            <a:off x="571500" y="6191250"/>
            <a:ext cx="17145000" cy="361950"/>
            <a:chOff x="0" y="0"/>
            <a:chExt cx="22860000" cy="4826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47625"/>
              <a:ext cx="228600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571500" y="6553200"/>
            <a:ext cx="17145000" cy="361950"/>
            <a:chOff x="0" y="0"/>
            <a:chExt cx="22860000" cy="4826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F4FBFF"/>
            </a:solid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22860000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5" id="105"/>
          <p:cNvSpPr txBox="true"/>
          <p:nvPr/>
        </p:nvSpPr>
        <p:spPr>
          <a:xfrm rot="0">
            <a:off x="609600" y="6638925"/>
            <a:ext cx="2019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Punto de Venta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2705100" y="6638925"/>
            <a:ext cx="11620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RF 2.10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3943350" y="6638925"/>
            <a:ext cx="9715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Funcional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4991100" y="6638925"/>
            <a:ext cx="18288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Cajero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6896100" y="6638925"/>
            <a:ext cx="10782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Anular venta del turno activo, invalidar ingreso monetario y restituir insumos al stock según receta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609600" y="6276975"/>
            <a:ext cx="2019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Punto de Venta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2705100" y="6276975"/>
            <a:ext cx="11620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RF 2.9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3943350" y="6276975"/>
            <a:ext cx="9715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Funcional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4991100" y="6276975"/>
            <a:ext cx="18288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Cajero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6896100" y="6276975"/>
            <a:ext cx="10782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19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Mostrar ticket digital detallando la venta</a:t>
            </a:r>
          </a:p>
        </p:txBody>
      </p:sp>
      <p:grpSp>
        <p:nvGrpSpPr>
          <p:cNvPr name="Group 115" id="115"/>
          <p:cNvGrpSpPr/>
          <p:nvPr/>
        </p:nvGrpSpPr>
        <p:grpSpPr>
          <a:xfrm rot="0">
            <a:off x="571500" y="6915150"/>
            <a:ext cx="17145000" cy="361950"/>
            <a:chOff x="0" y="0"/>
            <a:chExt cx="22860000" cy="48260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F4FBFF"/>
            </a:solid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47625"/>
              <a:ext cx="228600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sp>
        <p:nvSpPr>
          <p:cNvPr name="TextBox 118" id="118"/>
          <p:cNvSpPr txBox="true"/>
          <p:nvPr/>
        </p:nvSpPr>
        <p:spPr>
          <a:xfrm rot="0">
            <a:off x="609600" y="7000875"/>
            <a:ext cx="2019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Inventario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2705100" y="7000875"/>
            <a:ext cx="11620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RF 3.1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3943350" y="7000875"/>
            <a:ext cx="9715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Funcional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4991100" y="7000875"/>
            <a:ext cx="18288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Bodeguero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6896100" y="7000875"/>
            <a:ext cx="10782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19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Registrar materias primas con nombre y unidad de medida</a:t>
            </a:r>
          </a:p>
        </p:txBody>
      </p:sp>
      <p:grpSp>
        <p:nvGrpSpPr>
          <p:cNvPr name="Group 123" id="123"/>
          <p:cNvGrpSpPr/>
          <p:nvPr/>
        </p:nvGrpSpPr>
        <p:grpSpPr>
          <a:xfrm rot="0">
            <a:off x="571500" y="7277100"/>
            <a:ext cx="17145000" cy="361950"/>
            <a:chOff x="0" y="0"/>
            <a:chExt cx="22860000" cy="48260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47625"/>
              <a:ext cx="228600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sp>
        <p:nvSpPr>
          <p:cNvPr name="TextBox 126" id="126"/>
          <p:cNvSpPr txBox="true"/>
          <p:nvPr/>
        </p:nvSpPr>
        <p:spPr>
          <a:xfrm rot="0">
            <a:off x="609600" y="7362825"/>
            <a:ext cx="2019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Inventario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2705100" y="7362825"/>
            <a:ext cx="11620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RF 3.2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3943350" y="7362825"/>
            <a:ext cx="9715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Funcional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4991100" y="7362825"/>
            <a:ext cx="18288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Bodeguero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6896100" y="7362825"/>
            <a:ext cx="10782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19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Capturar datos de factura física mediante QR</a:t>
            </a:r>
          </a:p>
        </p:txBody>
      </p:sp>
      <p:grpSp>
        <p:nvGrpSpPr>
          <p:cNvPr name="Group 131" id="131"/>
          <p:cNvGrpSpPr/>
          <p:nvPr/>
        </p:nvGrpSpPr>
        <p:grpSpPr>
          <a:xfrm rot="0">
            <a:off x="571500" y="7639050"/>
            <a:ext cx="17145000" cy="361950"/>
            <a:chOff x="0" y="0"/>
            <a:chExt cx="22860000" cy="48260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F4FBFF"/>
            </a:solid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47625"/>
              <a:ext cx="228600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sp>
        <p:nvSpPr>
          <p:cNvPr name="TextBox 134" id="134"/>
          <p:cNvSpPr txBox="true"/>
          <p:nvPr/>
        </p:nvSpPr>
        <p:spPr>
          <a:xfrm rot="0">
            <a:off x="609600" y="7724775"/>
            <a:ext cx="2019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Inventario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2705100" y="7724775"/>
            <a:ext cx="11620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RF 3.3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3943350" y="7724775"/>
            <a:ext cx="9715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Funcional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4991100" y="7724775"/>
            <a:ext cx="18288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Bodeguero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6896100" y="7724775"/>
            <a:ext cx="10782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19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Sumar cantidades al inventario tras procesar QR de compra</a:t>
            </a:r>
          </a:p>
        </p:txBody>
      </p:sp>
      <p:grpSp>
        <p:nvGrpSpPr>
          <p:cNvPr name="Group 139" id="139"/>
          <p:cNvGrpSpPr/>
          <p:nvPr/>
        </p:nvGrpSpPr>
        <p:grpSpPr>
          <a:xfrm rot="0">
            <a:off x="571500" y="8001000"/>
            <a:ext cx="17145000" cy="361950"/>
            <a:chOff x="0" y="0"/>
            <a:chExt cx="22860000" cy="4826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47625"/>
              <a:ext cx="228600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sp>
        <p:nvSpPr>
          <p:cNvPr name="TextBox 142" id="142"/>
          <p:cNvSpPr txBox="true"/>
          <p:nvPr/>
        </p:nvSpPr>
        <p:spPr>
          <a:xfrm rot="0">
            <a:off x="609600" y="8086725"/>
            <a:ext cx="2019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Inventario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2705100" y="8086725"/>
            <a:ext cx="11620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RF 3.4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3943350" y="8086725"/>
            <a:ext cx="9715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Funcional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4991100" y="8086725"/>
            <a:ext cx="18288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Bodeguero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6896100" y="8086725"/>
            <a:ext cx="10782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19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Rechazar ingreso si folio + RUT ya existe como procesado</a:t>
            </a:r>
          </a:p>
        </p:txBody>
      </p:sp>
      <p:grpSp>
        <p:nvGrpSpPr>
          <p:cNvPr name="Group 147" id="147"/>
          <p:cNvGrpSpPr/>
          <p:nvPr/>
        </p:nvGrpSpPr>
        <p:grpSpPr>
          <a:xfrm rot="0">
            <a:off x="571500" y="8362950"/>
            <a:ext cx="17145000" cy="361950"/>
            <a:chOff x="0" y="0"/>
            <a:chExt cx="22860000" cy="48260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AFCBF8"/>
            </a:solid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47625"/>
              <a:ext cx="228600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sp>
        <p:nvSpPr>
          <p:cNvPr name="TextBox 150" id="150"/>
          <p:cNvSpPr txBox="true"/>
          <p:nvPr/>
        </p:nvSpPr>
        <p:spPr>
          <a:xfrm rot="0">
            <a:off x="609600" y="8448675"/>
            <a:ext cx="2019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Inventario</a:t>
            </a:r>
          </a:p>
        </p:txBody>
      </p:sp>
      <p:sp>
        <p:nvSpPr>
          <p:cNvPr name="TextBox 151" id="151"/>
          <p:cNvSpPr txBox="true"/>
          <p:nvPr/>
        </p:nvSpPr>
        <p:spPr>
          <a:xfrm rot="0">
            <a:off x="2705100" y="8448675"/>
            <a:ext cx="11620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RF 3.5</a:t>
            </a:r>
          </a:p>
        </p:txBody>
      </p:sp>
      <p:sp>
        <p:nvSpPr>
          <p:cNvPr name="TextBox 152" id="152"/>
          <p:cNvSpPr txBox="true"/>
          <p:nvPr/>
        </p:nvSpPr>
        <p:spPr>
          <a:xfrm rot="0">
            <a:off x="3943350" y="8448675"/>
            <a:ext cx="9715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Funcional</a:t>
            </a:r>
          </a:p>
        </p:txBody>
      </p:sp>
      <p:sp>
        <p:nvSpPr>
          <p:cNvPr name="TextBox 153" id="153"/>
          <p:cNvSpPr txBox="true"/>
          <p:nvPr/>
        </p:nvSpPr>
        <p:spPr>
          <a:xfrm rot="0">
            <a:off x="4991100" y="8448675"/>
            <a:ext cx="18288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Bodeguero</a:t>
            </a:r>
          </a:p>
        </p:txBody>
      </p:sp>
      <p:sp>
        <p:nvSpPr>
          <p:cNvPr name="TextBox 154" id="154"/>
          <p:cNvSpPr txBox="true"/>
          <p:nvPr/>
        </p:nvSpPr>
        <p:spPr>
          <a:xfrm rot="0">
            <a:off x="6896100" y="8448675"/>
            <a:ext cx="10782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b="true" sz="1199" strike="noStrike" u="none">
                <a:solidFill>
                  <a:srgbClr val="2E3C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Descontar ingredientes del inventario al confirmar venta</a:t>
            </a:r>
          </a:p>
        </p:txBody>
      </p:sp>
      <p:grpSp>
        <p:nvGrpSpPr>
          <p:cNvPr name="Group 155" id="155"/>
          <p:cNvGrpSpPr/>
          <p:nvPr/>
        </p:nvGrpSpPr>
        <p:grpSpPr>
          <a:xfrm rot="0">
            <a:off x="609600" y="8715375"/>
            <a:ext cx="17145000" cy="361950"/>
            <a:chOff x="0" y="0"/>
            <a:chExt cx="22860000" cy="48260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47625"/>
              <a:ext cx="228600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sp>
        <p:nvSpPr>
          <p:cNvPr name="TextBox 158" id="158"/>
          <p:cNvSpPr txBox="true"/>
          <p:nvPr/>
        </p:nvSpPr>
        <p:spPr>
          <a:xfrm rot="0">
            <a:off x="609600" y="8810625"/>
            <a:ext cx="2019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Inventario</a:t>
            </a:r>
          </a:p>
        </p:txBody>
      </p:sp>
      <p:sp>
        <p:nvSpPr>
          <p:cNvPr name="TextBox 159" id="159"/>
          <p:cNvSpPr txBox="true"/>
          <p:nvPr/>
        </p:nvSpPr>
        <p:spPr>
          <a:xfrm rot="0">
            <a:off x="2705100" y="8810625"/>
            <a:ext cx="11620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RF 3.6</a:t>
            </a:r>
          </a:p>
        </p:txBody>
      </p:sp>
      <p:sp>
        <p:nvSpPr>
          <p:cNvPr name="TextBox 160" id="160"/>
          <p:cNvSpPr txBox="true"/>
          <p:nvPr/>
        </p:nvSpPr>
        <p:spPr>
          <a:xfrm rot="0">
            <a:off x="3943350" y="8810625"/>
            <a:ext cx="9715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Funcional</a:t>
            </a:r>
          </a:p>
        </p:txBody>
      </p:sp>
      <p:sp>
        <p:nvSpPr>
          <p:cNvPr name="TextBox 161" id="161"/>
          <p:cNvSpPr txBox="true"/>
          <p:nvPr/>
        </p:nvSpPr>
        <p:spPr>
          <a:xfrm rot="0">
            <a:off x="4991100" y="8810625"/>
            <a:ext cx="18288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Admin, Bodeguero</a:t>
            </a:r>
          </a:p>
        </p:txBody>
      </p:sp>
      <p:sp>
        <p:nvSpPr>
          <p:cNvPr name="TextBox 162" id="162"/>
          <p:cNvSpPr txBox="true"/>
          <p:nvPr/>
        </p:nvSpPr>
        <p:spPr>
          <a:xfrm rot="0">
            <a:off x="6896100" y="8810625"/>
            <a:ext cx="10782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19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Panel de stock en tiempo real sin refresco manual</a:t>
            </a:r>
          </a:p>
        </p:txBody>
      </p:sp>
      <p:grpSp>
        <p:nvGrpSpPr>
          <p:cNvPr name="Group 163" id="163"/>
          <p:cNvGrpSpPr/>
          <p:nvPr/>
        </p:nvGrpSpPr>
        <p:grpSpPr>
          <a:xfrm rot="0">
            <a:off x="609600" y="9077325"/>
            <a:ext cx="17145000" cy="361950"/>
            <a:chOff x="0" y="0"/>
            <a:chExt cx="22860000" cy="48260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F4FBFF"/>
            </a:solid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-47625"/>
              <a:ext cx="228600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sp>
        <p:nvSpPr>
          <p:cNvPr name="TextBox 166" id="166"/>
          <p:cNvSpPr txBox="true"/>
          <p:nvPr/>
        </p:nvSpPr>
        <p:spPr>
          <a:xfrm rot="0">
            <a:off x="609600" y="9172575"/>
            <a:ext cx="2019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Inventario</a:t>
            </a:r>
          </a:p>
        </p:txBody>
      </p:sp>
      <p:sp>
        <p:nvSpPr>
          <p:cNvPr name="TextBox 167" id="167"/>
          <p:cNvSpPr txBox="true"/>
          <p:nvPr/>
        </p:nvSpPr>
        <p:spPr>
          <a:xfrm rot="0">
            <a:off x="2705100" y="9172575"/>
            <a:ext cx="11620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RF 3.7</a:t>
            </a:r>
          </a:p>
        </p:txBody>
      </p:sp>
      <p:sp>
        <p:nvSpPr>
          <p:cNvPr name="TextBox 168" id="168"/>
          <p:cNvSpPr txBox="true"/>
          <p:nvPr/>
        </p:nvSpPr>
        <p:spPr>
          <a:xfrm rot="0">
            <a:off x="3943350" y="9172575"/>
            <a:ext cx="9715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Funcional</a:t>
            </a:r>
          </a:p>
        </p:txBody>
      </p:sp>
      <p:sp>
        <p:nvSpPr>
          <p:cNvPr name="TextBox 169" id="169"/>
          <p:cNvSpPr txBox="true"/>
          <p:nvPr/>
        </p:nvSpPr>
        <p:spPr>
          <a:xfrm rot="0">
            <a:off x="4991100" y="9172575"/>
            <a:ext cx="18288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Admin</a:t>
            </a:r>
          </a:p>
        </p:txBody>
      </p:sp>
      <p:sp>
        <p:nvSpPr>
          <p:cNvPr name="TextBox 170" id="170"/>
          <p:cNvSpPr txBox="true"/>
          <p:nvPr/>
        </p:nvSpPr>
        <p:spPr>
          <a:xfrm rot="0">
            <a:off x="6896100" y="9172575"/>
            <a:ext cx="10782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19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Alertas cuando stock cae bajo el mínimo configurado</a:t>
            </a:r>
          </a:p>
        </p:txBody>
      </p:sp>
      <p:sp>
        <p:nvSpPr>
          <p:cNvPr name="TextBox 171" id="171"/>
          <p:cNvSpPr txBox="true"/>
          <p:nvPr/>
        </p:nvSpPr>
        <p:spPr>
          <a:xfrm rot="0">
            <a:off x="17697450" y="9258300"/>
            <a:ext cx="37698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2E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3" id="3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47890" y="895350"/>
            <a:ext cx="8732193" cy="693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500" b="true">
                <a:solidFill>
                  <a:srgbClr val="2589C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Requerimientos</a:t>
            </a:r>
            <a:r>
              <a:rPr lang="en-US" sz="4500" b="true">
                <a:solidFill>
                  <a:srgbClr val="2E3C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Funcionales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5417965" y="9700803"/>
            <a:ext cx="2780138" cy="576196"/>
            <a:chOff x="0" y="0"/>
            <a:chExt cx="3706851" cy="7682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06876" cy="768223"/>
            </a:xfrm>
            <a:custGeom>
              <a:avLst/>
              <a:gdLst/>
              <a:ahLst/>
              <a:cxnLst/>
              <a:rect r="r" b="b" t="t" l="l"/>
              <a:pathLst>
                <a:path h="768223" w="3706876">
                  <a:moveTo>
                    <a:pt x="0" y="0"/>
                  </a:moveTo>
                  <a:lnTo>
                    <a:pt x="3706876" y="0"/>
                  </a:lnTo>
                  <a:lnTo>
                    <a:pt x="3706876" y="768223"/>
                  </a:lnTo>
                  <a:lnTo>
                    <a:pt x="0" y="768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4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71500" y="1809750"/>
            <a:ext cx="17145000" cy="400050"/>
            <a:chOff x="0" y="0"/>
            <a:chExt cx="22860000" cy="533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860000" cy="533400"/>
            </a:xfrm>
            <a:custGeom>
              <a:avLst/>
              <a:gdLst/>
              <a:ahLst/>
              <a:cxnLst/>
              <a:rect r="r" b="b" t="t" l="l"/>
              <a:pathLst>
                <a:path h="5334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063E5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28600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23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90550" y="1905000"/>
            <a:ext cx="205740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8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686050" y="1895475"/>
            <a:ext cx="120015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8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Nombre RF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24300" y="1905000"/>
            <a:ext cx="100965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8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Tipo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972050" y="1905000"/>
            <a:ext cx="186690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8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Actores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77050" y="1905000"/>
            <a:ext cx="1082040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39"/>
              </a:lnSpc>
              <a:spcBef>
                <a:spcPct val="0"/>
              </a:spcBef>
            </a:pPr>
            <a:r>
              <a:rPr lang="en-US" b="true" sz="1449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Descripción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71500" y="2933700"/>
            <a:ext cx="17145000" cy="361950"/>
            <a:chOff x="0" y="0"/>
            <a:chExt cx="22860000" cy="482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AFCBF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28600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23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71500" y="2209800"/>
            <a:ext cx="17145000" cy="361950"/>
            <a:chOff x="0" y="0"/>
            <a:chExt cx="22860000" cy="482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2860000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09600" y="2314575"/>
            <a:ext cx="2019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Inventario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05100" y="2314575"/>
            <a:ext cx="11620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RF 3.8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943350" y="2314575"/>
            <a:ext cx="9715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Funcional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991100" y="2314575"/>
            <a:ext cx="18288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Admin, Bodeguero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96100" y="2314575"/>
            <a:ext cx="10782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Filtros por estado: agotados, críticos, estables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71500" y="2571750"/>
            <a:ext cx="17145000" cy="361950"/>
            <a:chOff x="0" y="0"/>
            <a:chExt cx="22860000" cy="482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F4FB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2860000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609600" y="2676525"/>
            <a:ext cx="2019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Inventario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705100" y="2676525"/>
            <a:ext cx="11620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RF 3.9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943350" y="2676525"/>
            <a:ext cx="9715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Funcional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991100" y="2676525"/>
            <a:ext cx="18288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Bodeguero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896100" y="2676525"/>
            <a:ext cx="10782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Ajuste manual de stock con motivo obligatorio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09600" y="3038475"/>
            <a:ext cx="2019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Reportes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705100" y="3038475"/>
            <a:ext cx="11620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RF 4.1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943350" y="3038475"/>
            <a:ext cx="9715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Funcional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991100" y="3038475"/>
            <a:ext cx="18288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Admin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896100" y="3038475"/>
            <a:ext cx="10782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Reportes consolidados de ventas por sucursal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571500" y="3295650"/>
            <a:ext cx="17145000" cy="361950"/>
            <a:chOff x="0" y="0"/>
            <a:chExt cx="22860000" cy="482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228600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23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609600" y="3400425"/>
            <a:ext cx="2019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Reportes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705100" y="3400425"/>
            <a:ext cx="11620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RF 4.2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943350" y="3400425"/>
            <a:ext cx="9715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Funcional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991100" y="3400425"/>
            <a:ext cx="18288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Admin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896100" y="3400425"/>
            <a:ext cx="10782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Filtros por periodo: diario, semanal, mensual o rango personalizado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571500" y="3657600"/>
            <a:ext cx="17145000" cy="361950"/>
            <a:chOff x="0" y="0"/>
            <a:chExt cx="22860000" cy="482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F4FBFF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228600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239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609600" y="3762375"/>
            <a:ext cx="2019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Reportes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705100" y="3762375"/>
            <a:ext cx="11620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RF 4.3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943350" y="3762375"/>
            <a:ext cx="9715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Funcional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991100" y="3762375"/>
            <a:ext cx="18288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Admin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896100" y="3762375"/>
            <a:ext cx="10782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Reporte de ventas por cajero con total y transacciones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571500" y="4019550"/>
            <a:ext cx="17145000" cy="361950"/>
            <a:chOff x="0" y="0"/>
            <a:chExt cx="22860000" cy="4826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228600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239"/>
                </a:lnSpc>
              </a:pP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609600" y="4124325"/>
            <a:ext cx="2019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Reportes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2705100" y="4124325"/>
            <a:ext cx="11620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RF 4.4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943350" y="4124325"/>
            <a:ext cx="9715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Funcional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4991100" y="4124325"/>
            <a:ext cx="18288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Admin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6896100" y="4124325"/>
            <a:ext cx="10782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Desglose por producto: unidades, frecuencia y monto generado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571500" y="4743450"/>
            <a:ext cx="17145000" cy="361950"/>
            <a:chOff x="0" y="0"/>
            <a:chExt cx="22860000" cy="4826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F4FBFF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228600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239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571500" y="4381500"/>
            <a:ext cx="17145000" cy="361950"/>
            <a:chOff x="0" y="0"/>
            <a:chExt cx="22860000" cy="4826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AFCBF8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22860000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609600" y="4486275"/>
            <a:ext cx="2019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Reportes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705100" y="4486275"/>
            <a:ext cx="11620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RF 4.5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3943350" y="4486275"/>
            <a:ext cx="9715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Funcional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4991100" y="4486275"/>
            <a:ext cx="18288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Admin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6896100" y="4486275"/>
            <a:ext cx="10782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IA predictiva: analizar ventas para recomendaciones, productos sugeridos y proyecciones de demanda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609600" y="4848225"/>
            <a:ext cx="2019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Administración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2705100" y="4848225"/>
            <a:ext cx="11620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RF 5.1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3943350" y="4848225"/>
            <a:ext cx="9715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Funcional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4991100" y="4848225"/>
            <a:ext cx="18288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Admin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6896100" y="4848225"/>
            <a:ext cx="10782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Crear perfiles de cajero con credenciales y sucursal asignada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571500" y="5105400"/>
            <a:ext cx="17145000" cy="361950"/>
            <a:chOff x="0" y="0"/>
            <a:chExt cx="22860000" cy="4826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228600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239"/>
                </a:lnSpc>
              </a:pPr>
            </a:p>
          </p:txBody>
        </p:sp>
      </p:grpSp>
      <p:sp>
        <p:nvSpPr>
          <p:cNvPr name="TextBox 82" id="82"/>
          <p:cNvSpPr txBox="true"/>
          <p:nvPr/>
        </p:nvSpPr>
        <p:spPr>
          <a:xfrm rot="0">
            <a:off x="609600" y="5210175"/>
            <a:ext cx="2019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Administración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2705100" y="5210175"/>
            <a:ext cx="11620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RF 5.2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3943350" y="5210175"/>
            <a:ext cx="9715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Funcional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4991100" y="5210175"/>
            <a:ext cx="18288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Admin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6896100" y="5210175"/>
            <a:ext cx="10782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Editar o desactivar perfiles de cajero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571500" y="5467350"/>
            <a:ext cx="17145000" cy="361950"/>
            <a:chOff x="0" y="0"/>
            <a:chExt cx="22860000" cy="4826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F4FBFF"/>
            </a:solid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47625"/>
              <a:ext cx="228600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239"/>
                </a:lnSpc>
              </a:pPr>
            </a:p>
          </p:txBody>
        </p:sp>
      </p:grpSp>
      <p:sp>
        <p:nvSpPr>
          <p:cNvPr name="TextBox 90" id="90"/>
          <p:cNvSpPr txBox="true"/>
          <p:nvPr/>
        </p:nvSpPr>
        <p:spPr>
          <a:xfrm rot="0">
            <a:off x="609600" y="5572125"/>
            <a:ext cx="2019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Administración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2705100" y="5572125"/>
            <a:ext cx="11620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RF 5.3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3943350" y="5572125"/>
            <a:ext cx="9715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Funcional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4991100" y="5572125"/>
            <a:ext cx="18288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Admin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6896100" y="5572125"/>
            <a:ext cx="10782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Configurar promociones: productos afectados, descuento y vigencia</a:t>
            </a:r>
          </a:p>
        </p:txBody>
      </p:sp>
      <p:grpSp>
        <p:nvGrpSpPr>
          <p:cNvPr name="Group 95" id="95"/>
          <p:cNvGrpSpPr/>
          <p:nvPr/>
        </p:nvGrpSpPr>
        <p:grpSpPr>
          <a:xfrm rot="0">
            <a:off x="571500" y="5829300"/>
            <a:ext cx="17145000" cy="361950"/>
            <a:chOff x="0" y="0"/>
            <a:chExt cx="22860000" cy="4826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228600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239"/>
                </a:lnSpc>
              </a:pP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571500" y="6191250"/>
            <a:ext cx="17145000" cy="361950"/>
            <a:chOff x="0" y="0"/>
            <a:chExt cx="22860000" cy="4826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F4FBFF"/>
            </a:solid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22860000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1" id="101"/>
          <p:cNvSpPr txBox="true"/>
          <p:nvPr/>
        </p:nvSpPr>
        <p:spPr>
          <a:xfrm rot="0">
            <a:off x="609600" y="6296025"/>
            <a:ext cx="2019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Administración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2705100" y="6296025"/>
            <a:ext cx="11620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RF 5.5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3943350" y="6296025"/>
            <a:ext cx="9715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Funcional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4991100" y="6296025"/>
            <a:ext cx="18288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Admin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6896100" y="6296025"/>
            <a:ext cx="10782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Gestión de productos compuestos y recetas con ingredientes vinculados para descuento automático al vender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609600" y="5934075"/>
            <a:ext cx="2019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Administración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2705100" y="5934075"/>
            <a:ext cx="11620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RF 5.4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3943350" y="5934075"/>
            <a:ext cx="9715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Funcional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4991100" y="5934075"/>
            <a:ext cx="18288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Admin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6896100" y="5934075"/>
            <a:ext cx="107823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Programar fecha/horario de inicio y término de promociones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7678400" y="9163050"/>
            <a:ext cx="38100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 strike="noStrike" u="none">
                <a:solidFill>
                  <a:srgbClr val="2E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895350"/>
            <a:ext cx="14820900" cy="693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62"/>
              </a:lnSpc>
              <a:spcBef>
                <a:spcPct val="0"/>
              </a:spcBef>
            </a:pPr>
            <a:r>
              <a:rPr lang="en-US" b="true" sz="4500" strike="noStrike" u="none">
                <a:solidFill>
                  <a:srgbClr val="2589C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Requerimientos</a:t>
            </a:r>
            <a:r>
              <a:rPr lang="en-US" b="true" sz="4500" strike="noStrike" u="none">
                <a:solidFill>
                  <a:srgbClr val="2E3C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No Funcionales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71500" y="1809750"/>
            <a:ext cx="17145000" cy="400050"/>
            <a:chOff x="0" y="0"/>
            <a:chExt cx="22860000" cy="533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60000" cy="533400"/>
            </a:xfrm>
            <a:custGeom>
              <a:avLst/>
              <a:gdLst/>
              <a:ahLst/>
              <a:cxnLst/>
              <a:rect r="r" b="b" t="t" l="l"/>
              <a:pathLst>
                <a:path h="5334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063E5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28600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90550" y="1900238"/>
            <a:ext cx="205740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86050" y="1900238"/>
            <a:ext cx="120015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Nombre RF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24300" y="1900238"/>
            <a:ext cx="100965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Tipo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72050" y="1895475"/>
            <a:ext cx="1270635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97"/>
              </a:lnSpc>
              <a:spcBef>
                <a:spcPct val="0"/>
              </a:spcBef>
            </a:pPr>
            <a:r>
              <a:rPr lang="en-US" b="true" sz="1497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Descripción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71500" y="2209800"/>
            <a:ext cx="17145000" cy="361950"/>
            <a:chOff x="0" y="0"/>
            <a:chExt cx="22860000" cy="482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F4FB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28600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09600" y="2259965"/>
            <a:ext cx="2019300" cy="199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3"/>
              </a:lnSpc>
              <a:spcBef>
                <a:spcPct val="0"/>
              </a:spcBef>
            </a:pPr>
            <a:r>
              <a:rPr lang="en-US" sz="115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Rendimiento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05100" y="2259965"/>
            <a:ext cx="1162050" cy="199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3"/>
              </a:lnSpc>
              <a:spcBef>
                <a:spcPct val="0"/>
              </a:spcBef>
            </a:pPr>
            <a:r>
              <a:rPr lang="en-US" sz="115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RNF 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43350" y="2159952"/>
            <a:ext cx="971550" cy="399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3"/>
              </a:lnSpc>
              <a:spcBef>
                <a:spcPct val="0"/>
              </a:spcBef>
            </a:pPr>
            <a:r>
              <a:rPr lang="en-US" sz="115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No Funcional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972050" y="2257425"/>
            <a:ext cx="12706350" cy="198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47"/>
              </a:lnSpc>
              <a:spcBef>
                <a:spcPct val="0"/>
              </a:spcBef>
            </a:pPr>
            <a:r>
              <a:rPr lang="en-US" sz="1176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El procesamiento de escaneo y adición de productos al carro debe responder en menos de 3 segundos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71500" y="2571750"/>
            <a:ext cx="17145000" cy="361950"/>
            <a:chOff x="0" y="0"/>
            <a:chExt cx="22860000" cy="482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28600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09600" y="2621915"/>
            <a:ext cx="2019300" cy="199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3"/>
              </a:lnSpc>
              <a:spcBef>
                <a:spcPct val="0"/>
              </a:spcBef>
            </a:pPr>
            <a:r>
              <a:rPr lang="en-US" sz="115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Rendimiento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705100" y="2621915"/>
            <a:ext cx="1162050" cy="199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3"/>
              </a:lnSpc>
              <a:spcBef>
                <a:spcPct val="0"/>
              </a:spcBef>
            </a:pPr>
            <a:r>
              <a:rPr lang="en-US" sz="115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RNF 02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943350" y="2521902"/>
            <a:ext cx="971550" cy="399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3"/>
              </a:lnSpc>
              <a:spcBef>
                <a:spcPct val="0"/>
              </a:spcBef>
            </a:pPr>
            <a:r>
              <a:rPr lang="en-US" sz="115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No Funcional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972050" y="2619375"/>
            <a:ext cx="12706350" cy="198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47"/>
              </a:lnSpc>
              <a:spcBef>
                <a:spcPct val="0"/>
              </a:spcBef>
            </a:pPr>
            <a:r>
              <a:rPr lang="en-US" sz="1176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El registro del pago, emisión de comprobante y descuento de recetas no debe superar los 2 segundos por venta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71500" y="2933700"/>
            <a:ext cx="17145000" cy="361950"/>
            <a:chOff x="0" y="0"/>
            <a:chExt cx="22860000" cy="482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F4FB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228600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09600" y="2983865"/>
            <a:ext cx="2019300" cy="199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3"/>
              </a:lnSpc>
              <a:spcBef>
                <a:spcPct val="0"/>
              </a:spcBef>
            </a:pPr>
            <a:r>
              <a:rPr lang="en-US" sz="115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Seguridad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705100" y="2983865"/>
            <a:ext cx="1162050" cy="199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3"/>
              </a:lnSpc>
              <a:spcBef>
                <a:spcPct val="0"/>
              </a:spcBef>
            </a:pPr>
            <a:r>
              <a:rPr lang="en-US" sz="115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RNF 03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943350" y="2883852"/>
            <a:ext cx="971550" cy="399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3"/>
              </a:lnSpc>
              <a:spcBef>
                <a:spcPct val="0"/>
              </a:spcBef>
            </a:pPr>
            <a:r>
              <a:rPr lang="en-US" sz="115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No Funcional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972050" y="2981325"/>
            <a:ext cx="12706350" cy="198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47"/>
              </a:lnSpc>
              <a:spcBef>
                <a:spcPct val="0"/>
              </a:spcBef>
            </a:pPr>
            <a:r>
              <a:rPr lang="en-US" sz="1176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Comunicación obligatoria mediante HTTPS/TLS; contraseñas hasheadas con bcrypt o Argon2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571500" y="3295650"/>
            <a:ext cx="17145000" cy="361950"/>
            <a:chOff x="0" y="0"/>
            <a:chExt cx="22860000" cy="482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228600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5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09600" y="3345815"/>
            <a:ext cx="2019300" cy="199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3"/>
              </a:lnSpc>
              <a:spcBef>
                <a:spcPct val="0"/>
              </a:spcBef>
            </a:pPr>
            <a:r>
              <a:rPr lang="en-US" sz="115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Seguridad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705100" y="3345815"/>
            <a:ext cx="1162050" cy="199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3"/>
              </a:lnSpc>
              <a:spcBef>
                <a:spcPct val="0"/>
              </a:spcBef>
            </a:pPr>
            <a:r>
              <a:rPr lang="en-US" sz="115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RNF 04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943350" y="3245802"/>
            <a:ext cx="971550" cy="399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3"/>
              </a:lnSpc>
              <a:spcBef>
                <a:spcPct val="0"/>
              </a:spcBef>
            </a:pPr>
            <a:r>
              <a:rPr lang="en-US" sz="115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No Funcional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972050" y="3343275"/>
            <a:ext cx="12706350" cy="198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47"/>
              </a:lnSpc>
              <a:spcBef>
                <a:spcPct val="0"/>
              </a:spcBef>
            </a:pPr>
            <a:r>
              <a:rPr lang="en-US" sz="1176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Sesiones inactivas expiran tras 15 min; endpoints validan token/sesión y permisos del rol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571500" y="3657600"/>
            <a:ext cx="17145000" cy="361950"/>
            <a:chOff x="0" y="0"/>
            <a:chExt cx="22860000" cy="482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F4FBF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228600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5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609600" y="3707765"/>
            <a:ext cx="2019300" cy="199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3"/>
              </a:lnSpc>
              <a:spcBef>
                <a:spcPct val="0"/>
              </a:spcBef>
            </a:pPr>
            <a:r>
              <a:rPr lang="en-US" sz="115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Disponibilidad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705100" y="3707765"/>
            <a:ext cx="1162050" cy="199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3"/>
              </a:lnSpc>
              <a:spcBef>
                <a:spcPct val="0"/>
              </a:spcBef>
            </a:pPr>
            <a:r>
              <a:rPr lang="en-US" sz="115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RNF 05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943350" y="3607752"/>
            <a:ext cx="971550" cy="399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3"/>
              </a:lnSpc>
              <a:spcBef>
                <a:spcPct val="0"/>
              </a:spcBef>
            </a:pPr>
            <a:r>
              <a:rPr lang="en-US" sz="115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No Funcional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972050" y="3705225"/>
            <a:ext cx="12706350" cy="198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47"/>
              </a:lnSpc>
              <a:spcBef>
                <a:spcPct val="0"/>
              </a:spcBef>
            </a:pPr>
            <a:r>
              <a:rPr lang="en-US" sz="1176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Disponibilidad mínima del 99.5% durante el horario de operación comercial de las sucursales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571500" y="4019550"/>
            <a:ext cx="17145000" cy="361950"/>
            <a:chOff x="0" y="0"/>
            <a:chExt cx="22860000" cy="4826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228600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59"/>
                </a:lnSpc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609600" y="4069715"/>
            <a:ext cx="2019300" cy="199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3"/>
              </a:lnSpc>
              <a:spcBef>
                <a:spcPct val="0"/>
              </a:spcBef>
            </a:pPr>
            <a:r>
              <a:rPr lang="en-US" sz="115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Disponibilidad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705100" y="4069715"/>
            <a:ext cx="1162050" cy="199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3"/>
              </a:lnSpc>
              <a:spcBef>
                <a:spcPct val="0"/>
              </a:spcBef>
            </a:pPr>
            <a:r>
              <a:rPr lang="en-US" sz="115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RNF 06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3943350" y="3969702"/>
            <a:ext cx="971550" cy="399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3"/>
              </a:lnSpc>
              <a:spcBef>
                <a:spcPct val="0"/>
              </a:spcBef>
            </a:pPr>
            <a:r>
              <a:rPr lang="en-US" sz="115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No Funcional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972050" y="4067175"/>
            <a:ext cx="12706350" cy="198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47"/>
              </a:lnSpc>
              <a:spcBef>
                <a:spcPct val="0"/>
              </a:spcBef>
            </a:pPr>
            <a:r>
              <a:rPr lang="en-US" sz="1176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Aislamiento transaccional ACID; ventas y mermas simultáneas entre 8 locales sin inconsistencias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571500" y="4381500"/>
            <a:ext cx="17145000" cy="361950"/>
            <a:chOff x="0" y="0"/>
            <a:chExt cx="22860000" cy="4826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AFCBF8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228600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59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609600" y="4431665"/>
            <a:ext cx="2019300" cy="199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3"/>
              </a:lnSpc>
              <a:spcBef>
                <a:spcPct val="0"/>
              </a:spcBef>
            </a:pPr>
            <a:r>
              <a:rPr lang="en-US" sz="115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Usabilidad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705100" y="4431665"/>
            <a:ext cx="1162050" cy="199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3"/>
              </a:lnSpc>
              <a:spcBef>
                <a:spcPct val="0"/>
              </a:spcBef>
            </a:pPr>
            <a:r>
              <a:rPr lang="en-US" sz="115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RNF 07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3943350" y="4331652"/>
            <a:ext cx="971550" cy="399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3"/>
              </a:lnSpc>
              <a:spcBef>
                <a:spcPct val="0"/>
              </a:spcBef>
            </a:pPr>
            <a:r>
              <a:rPr lang="en-US" sz="115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No Funcional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4972050" y="4429125"/>
            <a:ext cx="12706350" cy="198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47"/>
              </a:lnSpc>
              <a:spcBef>
                <a:spcPct val="0"/>
              </a:spcBef>
            </a:pPr>
            <a:r>
              <a:rPr lang="en-US" b="true" sz="1176" strike="noStrike" u="none">
                <a:solidFill>
                  <a:srgbClr val="2E3C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Diseño responsivo compatible con PC, tablets, smartphones; soporte para cámara web/móvil y periféricos USB/BT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571500" y="4743450"/>
            <a:ext cx="17145000" cy="361950"/>
            <a:chOff x="0" y="0"/>
            <a:chExt cx="22860000" cy="4826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228600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59"/>
                </a:lnSpc>
              </a:pP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609600" y="4793615"/>
            <a:ext cx="2019300" cy="199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3"/>
              </a:lnSpc>
              <a:spcBef>
                <a:spcPct val="0"/>
              </a:spcBef>
            </a:pPr>
            <a:r>
              <a:rPr lang="en-US" sz="115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Usabilidad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2705100" y="4793615"/>
            <a:ext cx="1162050" cy="199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3"/>
              </a:lnSpc>
              <a:spcBef>
                <a:spcPct val="0"/>
              </a:spcBef>
            </a:pPr>
            <a:r>
              <a:rPr lang="en-US" sz="115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RNF 08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3943350" y="4693602"/>
            <a:ext cx="971550" cy="399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3"/>
              </a:lnSpc>
              <a:spcBef>
                <a:spcPct val="0"/>
              </a:spcBef>
            </a:pPr>
            <a:r>
              <a:rPr lang="en-US" sz="115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No Funcional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4972050" y="4791075"/>
            <a:ext cx="12706350" cy="198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47"/>
              </a:lnSpc>
              <a:spcBef>
                <a:spcPct val="0"/>
              </a:spcBef>
            </a:pPr>
            <a:r>
              <a:rPr lang="en-US" sz="1176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Interfaz de caja requiere máximo 3 interacciones para finalizar una venta estándar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571500" y="5105400"/>
            <a:ext cx="17145000" cy="361950"/>
            <a:chOff x="0" y="0"/>
            <a:chExt cx="22860000" cy="4826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F4FBFF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228600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59"/>
                </a:lnSpc>
              </a:pP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609600" y="5155565"/>
            <a:ext cx="2019300" cy="199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3"/>
              </a:lnSpc>
              <a:spcBef>
                <a:spcPct val="0"/>
              </a:spcBef>
            </a:pPr>
            <a:r>
              <a:rPr lang="en-US" sz="115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Escalabilidad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705100" y="5155565"/>
            <a:ext cx="1162050" cy="199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3"/>
              </a:lnSpc>
              <a:spcBef>
                <a:spcPct val="0"/>
              </a:spcBef>
            </a:pPr>
            <a:r>
              <a:rPr lang="en-US" sz="115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RNF 09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3943350" y="5055552"/>
            <a:ext cx="971550" cy="399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3"/>
              </a:lnSpc>
              <a:spcBef>
                <a:spcPct val="0"/>
              </a:spcBef>
            </a:pPr>
            <a:r>
              <a:rPr lang="en-US" sz="115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No Funcional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4972050" y="5153025"/>
            <a:ext cx="12706350" cy="198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47"/>
              </a:lnSpc>
              <a:spcBef>
                <a:spcPct val="0"/>
              </a:spcBef>
            </a:pPr>
            <a:r>
              <a:rPr lang="en-US" sz="1176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Crecimiento horizontal para nuevas sucursales y más de 50 terminales activas sin degradación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571500" y="5467350"/>
            <a:ext cx="17145000" cy="361950"/>
            <a:chOff x="0" y="0"/>
            <a:chExt cx="22860000" cy="4826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2860000" cy="482600"/>
            </a:xfrm>
            <a:custGeom>
              <a:avLst/>
              <a:gdLst/>
              <a:ahLst/>
              <a:cxnLst/>
              <a:rect r="r" b="b" t="t" l="l"/>
              <a:pathLst>
                <a:path h="4826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AFCBF8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228600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59"/>
                </a:lnSpc>
              </a:pP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609600" y="5517515"/>
            <a:ext cx="2019300" cy="199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3"/>
              </a:lnSpc>
              <a:spcBef>
                <a:spcPct val="0"/>
              </a:spcBef>
            </a:pPr>
            <a:r>
              <a:rPr lang="en-US" sz="115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Escalabilidad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2705100" y="5517515"/>
            <a:ext cx="1162050" cy="199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3"/>
              </a:lnSpc>
              <a:spcBef>
                <a:spcPct val="0"/>
              </a:spcBef>
            </a:pPr>
            <a:r>
              <a:rPr lang="en-US" sz="115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RNF 10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3943350" y="5417502"/>
            <a:ext cx="971550" cy="399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3"/>
              </a:lnSpc>
              <a:spcBef>
                <a:spcPct val="0"/>
              </a:spcBef>
            </a:pPr>
            <a:r>
              <a:rPr lang="en-US" sz="1159" strike="noStrike" u="none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No Funcional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4972050" y="5514975"/>
            <a:ext cx="12706350" cy="198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47"/>
              </a:lnSpc>
              <a:spcBef>
                <a:spcPct val="0"/>
              </a:spcBef>
            </a:pPr>
            <a:r>
              <a:rPr lang="en-US" b="true" sz="1176" strike="noStrike" u="none">
                <a:solidFill>
                  <a:srgbClr val="2E3C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Panel de inventario con WebSockets/SSE para reflejar cambios de stock sin recargar el navegador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7678400" y="9163050"/>
            <a:ext cx="38100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 strike="noStrike" u="none">
                <a:solidFill>
                  <a:srgbClr val="2E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3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890" y="1288409"/>
            <a:ext cx="5701608" cy="72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500" b="true">
                <a:solidFill>
                  <a:srgbClr val="F4FB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Épicas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47890" y="2958255"/>
            <a:ext cx="5283546" cy="2893666"/>
            <a:chOff x="0" y="0"/>
            <a:chExt cx="7044728" cy="38582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044690" cy="3858260"/>
            </a:xfrm>
            <a:custGeom>
              <a:avLst/>
              <a:gdLst/>
              <a:ahLst/>
              <a:cxnLst/>
              <a:rect r="r" b="b" t="t" l="l"/>
              <a:pathLst>
                <a:path h="3858260" w="704469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800850" y="0"/>
                  </a:lnTo>
                  <a:cubicBezTo>
                    <a:pt x="6935470" y="0"/>
                    <a:pt x="7044690" y="109220"/>
                    <a:pt x="7044690" y="243840"/>
                  </a:cubicBezTo>
                  <a:lnTo>
                    <a:pt x="7044690" y="3614420"/>
                  </a:lnTo>
                  <a:cubicBezTo>
                    <a:pt x="7044690" y="3749040"/>
                    <a:pt x="6935470" y="3858260"/>
                    <a:pt x="6800850" y="3858260"/>
                  </a:cubicBezTo>
                  <a:lnTo>
                    <a:pt x="243840" y="3858260"/>
                  </a:lnTo>
                  <a:cubicBezTo>
                    <a:pt x="109220" y="3858260"/>
                    <a:pt x="0" y="3749040"/>
                    <a:pt x="0" y="3614420"/>
                  </a:cubicBezTo>
                  <a:close/>
                </a:path>
              </a:pathLst>
            </a:custGeom>
            <a:solidFill>
              <a:srgbClr val="2E3C4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47890" y="2920155"/>
            <a:ext cx="5283546" cy="152400"/>
            <a:chOff x="0" y="0"/>
            <a:chExt cx="7044728" cy="203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44690" cy="203200"/>
            </a:xfrm>
            <a:custGeom>
              <a:avLst/>
              <a:gdLst/>
              <a:ahLst/>
              <a:cxnLst/>
              <a:rect r="r" b="b" t="t" l="l"/>
              <a:pathLst>
                <a:path h="203200" w="704469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943090" y="0"/>
                  </a:lnTo>
                  <a:cubicBezTo>
                    <a:pt x="6999224" y="0"/>
                    <a:pt x="7044690" y="45466"/>
                    <a:pt x="7044690" y="101600"/>
                  </a:cubicBezTo>
                  <a:cubicBezTo>
                    <a:pt x="7044690" y="157734"/>
                    <a:pt x="6999224" y="203200"/>
                    <a:pt x="6943090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2589C9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183360" y="2552109"/>
            <a:ext cx="812454" cy="812454"/>
            <a:chOff x="0" y="0"/>
            <a:chExt cx="1083272" cy="10832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3310" cy="1083310"/>
            </a:xfrm>
            <a:custGeom>
              <a:avLst/>
              <a:gdLst/>
              <a:ahLst/>
              <a:cxnLst/>
              <a:rect r="r" b="b" t="t" l="l"/>
              <a:pathLst>
                <a:path h="1083310" w="1083310">
                  <a:moveTo>
                    <a:pt x="0" y="541655"/>
                  </a:moveTo>
                  <a:cubicBezTo>
                    <a:pt x="0" y="242443"/>
                    <a:pt x="242443" y="0"/>
                    <a:pt x="541655" y="0"/>
                  </a:cubicBezTo>
                  <a:cubicBezTo>
                    <a:pt x="840867" y="0"/>
                    <a:pt x="1083310" y="242443"/>
                    <a:pt x="1083310" y="541655"/>
                  </a:cubicBezTo>
                  <a:cubicBezTo>
                    <a:pt x="1083310" y="840867"/>
                    <a:pt x="840740" y="1083310"/>
                    <a:pt x="541655" y="1083310"/>
                  </a:cubicBezTo>
                  <a:cubicBezTo>
                    <a:pt x="242570" y="1083310"/>
                    <a:pt x="0" y="840740"/>
                    <a:pt x="0" y="541655"/>
                  </a:cubicBezTo>
                  <a:close/>
                </a:path>
              </a:pathLst>
            </a:custGeom>
            <a:solidFill>
              <a:srgbClr val="2589C9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3427143" y="2755259"/>
            <a:ext cx="324888" cy="406156"/>
            <a:chOff x="0" y="0"/>
            <a:chExt cx="433184" cy="541541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433197" cy="541528"/>
            </a:xfrm>
            <a:custGeom>
              <a:avLst/>
              <a:gdLst/>
              <a:ahLst/>
              <a:cxnLst/>
              <a:rect r="r" b="b" t="t" l="l"/>
              <a:pathLst>
                <a:path h="541528" w="433197">
                  <a:moveTo>
                    <a:pt x="0" y="0"/>
                  </a:moveTo>
                  <a:lnTo>
                    <a:pt x="433197" y="0"/>
                  </a:lnTo>
                  <a:lnTo>
                    <a:pt x="433197" y="541528"/>
                  </a:lnTo>
                  <a:lnTo>
                    <a:pt x="0" y="541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83" r="2" b="-583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843537" y="3606698"/>
            <a:ext cx="3492252" cy="441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7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Usuarios y Accesos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6709" y="4166740"/>
            <a:ext cx="4665907" cy="125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212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Autenticación segura y control de acceso por rol (Cajero, Admin, Bodeguero).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02156" y="2958255"/>
            <a:ext cx="5283546" cy="2893666"/>
            <a:chOff x="0" y="0"/>
            <a:chExt cx="7044728" cy="385822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44690" cy="3858260"/>
            </a:xfrm>
            <a:custGeom>
              <a:avLst/>
              <a:gdLst/>
              <a:ahLst/>
              <a:cxnLst/>
              <a:rect r="r" b="b" t="t" l="l"/>
              <a:pathLst>
                <a:path h="3858260" w="704469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800850" y="0"/>
                  </a:lnTo>
                  <a:cubicBezTo>
                    <a:pt x="6935470" y="0"/>
                    <a:pt x="7044690" y="109220"/>
                    <a:pt x="7044690" y="243840"/>
                  </a:cubicBezTo>
                  <a:lnTo>
                    <a:pt x="7044690" y="3614420"/>
                  </a:lnTo>
                  <a:cubicBezTo>
                    <a:pt x="7044690" y="3749040"/>
                    <a:pt x="6935470" y="3858260"/>
                    <a:pt x="6800850" y="3858260"/>
                  </a:cubicBezTo>
                  <a:lnTo>
                    <a:pt x="243840" y="3858260"/>
                  </a:lnTo>
                  <a:cubicBezTo>
                    <a:pt x="109220" y="3858260"/>
                    <a:pt x="0" y="3749040"/>
                    <a:pt x="0" y="3614420"/>
                  </a:cubicBezTo>
                  <a:close/>
                </a:path>
              </a:pathLst>
            </a:custGeom>
            <a:solidFill>
              <a:srgbClr val="2E3C4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502156" y="2920155"/>
            <a:ext cx="5283546" cy="152400"/>
            <a:chOff x="0" y="0"/>
            <a:chExt cx="7044728" cy="203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44690" cy="203200"/>
            </a:xfrm>
            <a:custGeom>
              <a:avLst/>
              <a:gdLst/>
              <a:ahLst/>
              <a:cxnLst/>
              <a:rect r="r" b="b" t="t" l="l"/>
              <a:pathLst>
                <a:path h="203200" w="704469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943090" y="0"/>
                  </a:lnTo>
                  <a:cubicBezTo>
                    <a:pt x="6999224" y="0"/>
                    <a:pt x="7044690" y="45466"/>
                    <a:pt x="7044690" y="101600"/>
                  </a:cubicBezTo>
                  <a:cubicBezTo>
                    <a:pt x="7044690" y="157734"/>
                    <a:pt x="6999224" y="203200"/>
                    <a:pt x="6943090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2589C9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737625" y="2552109"/>
            <a:ext cx="812454" cy="812454"/>
            <a:chOff x="0" y="0"/>
            <a:chExt cx="1083272" cy="10832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83310" cy="1083310"/>
            </a:xfrm>
            <a:custGeom>
              <a:avLst/>
              <a:gdLst/>
              <a:ahLst/>
              <a:cxnLst/>
              <a:rect r="r" b="b" t="t" l="l"/>
              <a:pathLst>
                <a:path h="1083310" w="1083310">
                  <a:moveTo>
                    <a:pt x="0" y="541655"/>
                  </a:moveTo>
                  <a:cubicBezTo>
                    <a:pt x="0" y="242443"/>
                    <a:pt x="242443" y="0"/>
                    <a:pt x="541655" y="0"/>
                  </a:cubicBezTo>
                  <a:cubicBezTo>
                    <a:pt x="840867" y="0"/>
                    <a:pt x="1083310" y="242443"/>
                    <a:pt x="1083310" y="541655"/>
                  </a:cubicBezTo>
                  <a:cubicBezTo>
                    <a:pt x="1083310" y="840867"/>
                    <a:pt x="840740" y="1083310"/>
                    <a:pt x="541655" y="1083310"/>
                  </a:cubicBezTo>
                  <a:cubicBezTo>
                    <a:pt x="242570" y="1083310"/>
                    <a:pt x="0" y="840740"/>
                    <a:pt x="0" y="541655"/>
                  </a:cubicBezTo>
                  <a:close/>
                </a:path>
              </a:pathLst>
            </a:custGeom>
            <a:solidFill>
              <a:srgbClr val="2589C9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981408" y="2755259"/>
            <a:ext cx="324888" cy="406156"/>
            <a:chOff x="0" y="0"/>
            <a:chExt cx="433184" cy="541541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433197" cy="541528"/>
            </a:xfrm>
            <a:custGeom>
              <a:avLst/>
              <a:gdLst/>
              <a:ahLst/>
              <a:cxnLst/>
              <a:rect r="r" b="b" t="t" l="l"/>
              <a:pathLst>
                <a:path h="541528" w="433197">
                  <a:moveTo>
                    <a:pt x="0" y="0"/>
                  </a:moveTo>
                  <a:lnTo>
                    <a:pt x="433197" y="0"/>
                  </a:lnTo>
                  <a:lnTo>
                    <a:pt x="433197" y="541528"/>
                  </a:lnTo>
                  <a:lnTo>
                    <a:pt x="0" y="541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83" r="2" b="-583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7710563" y="3606698"/>
            <a:ext cx="2866579" cy="441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7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Punto de Venta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10966" y="4166740"/>
            <a:ext cx="4665907" cy="1685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212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Venta por código de barras, QR o código interno, con registro de medio de pago y descuento automático de insumos.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278597" y="6553706"/>
            <a:ext cx="5283698" cy="2893666"/>
            <a:chOff x="0" y="0"/>
            <a:chExt cx="7044931" cy="385822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44944" cy="3858260"/>
            </a:xfrm>
            <a:custGeom>
              <a:avLst/>
              <a:gdLst/>
              <a:ahLst/>
              <a:cxnLst/>
              <a:rect r="r" b="b" t="t" l="l"/>
              <a:pathLst>
                <a:path h="3858260" w="7044944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801104" y="0"/>
                  </a:lnTo>
                  <a:cubicBezTo>
                    <a:pt x="6935724" y="0"/>
                    <a:pt x="7044944" y="109220"/>
                    <a:pt x="7044944" y="243840"/>
                  </a:cubicBezTo>
                  <a:lnTo>
                    <a:pt x="7044944" y="3614420"/>
                  </a:lnTo>
                  <a:cubicBezTo>
                    <a:pt x="7044944" y="3749040"/>
                    <a:pt x="6935724" y="3858260"/>
                    <a:pt x="6801104" y="3858260"/>
                  </a:cubicBezTo>
                  <a:lnTo>
                    <a:pt x="243840" y="3858260"/>
                  </a:lnTo>
                  <a:cubicBezTo>
                    <a:pt x="109220" y="3858260"/>
                    <a:pt x="0" y="3749040"/>
                    <a:pt x="0" y="3614420"/>
                  </a:cubicBezTo>
                  <a:close/>
                </a:path>
              </a:pathLst>
            </a:custGeom>
            <a:solidFill>
              <a:srgbClr val="2E3C4E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278597" y="6515606"/>
            <a:ext cx="5283698" cy="152400"/>
            <a:chOff x="0" y="0"/>
            <a:chExt cx="7044931" cy="203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044944" cy="203200"/>
            </a:xfrm>
            <a:custGeom>
              <a:avLst/>
              <a:gdLst/>
              <a:ahLst/>
              <a:cxnLst/>
              <a:rect r="r" b="b" t="t" l="l"/>
              <a:pathLst>
                <a:path h="203200" w="7044944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943344" y="0"/>
                  </a:lnTo>
                  <a:cubicBezTo>
                    <a:pt x="6999477" y="0"/>
                    <a:pt x="7044944" y="45466"/>
                    <a:pt x="7044944" y="101600"/>
                  </a:cubicBezTo>
                  <a:cubicBezTo>
                    <a:pt x="7044944" y="157734"/>
                    <a:pt x="6999477" y="203200"/>
                    <a:pt x="6943344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2589C9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514219" y="6147560"/>
            <a:ext cx="812454" cy="812454"/>
            <a:chOff x="0" y="0"/>
            <a:chExt cx="1083272" cy="108327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83310" cy="1083310"/>
            </a:xfrm>
            <a:custGeom>
              <a:avLst/>
              <a:gdLst/>
              <a:ahLst/>
              <a:cxnLst/>
              <a:rect r="r" b="b" t="t" l="l"/>
              <a:pathLst>
                <a:path h="1083310" w="1083310">
                  <a:moveTo>
                    <a:pt x="0" y="541655"/>
                  </a:moveTo>
                  <a:cubicBezTo>
                    <a:pt x="0" y="242443"/>
                    <a:pt x="242443" y="0"/>
                    <a:pt x="541655" y="0"/>
                  </a:cubicBezTo>
                  <a:cubicBezTo>
                    <a:pt x="840867" y="0"/>
                    <a:pt x="1083310" y="242443"/>
                    <a:pt x="1083310" y="541655"/>
                  </a:cubicBezTo>
                  <a:cubicBezTo>
                    <a:pt x="1083310" y="840867"/>
                    <a:pt x="840740" y="1083310"/>
                    <a:pt x="541655" y="1083310"/>
                  </a:cubicBezTo>
                  <a:cubicBezTo>
                    <a:pt x="242570" y="1083310"/>
                    <a:pt x="0" y="840740"/>
                    <a:pt x="0" y="541655"/>
                  </a:cubicBezTo>
                  <a:close/>
                </a:path>
              </a:pathLst>
            </a:custGeom>
            <a:solidFill>
              <a:srgbClr val="2589C9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757992" y="6350709"/>
            <a:ext cx="324888" cy="406156"/>
            <a:chOff x="0" y="0"/>
            <a:chExt cx="433184" cy="541541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433197" cy="541528"/>
            </a:xfrm>
            <a:custGeom>
              <a:avLst/>
              <a:gdLst/>
              <a:ahLst/>
              <a:cxnLst/>
              <a:rect r="r" b="b" t="t" l="l"/>
              <a:pathLst>
                <a:path h="541528" w="433197">
                  <a:moveTo>
                    <a:pt x="0" y="0"/>
                  </a:moveTo>
                  <a:lnTo>
                    <a:pt x="433197" y="0"/>
                  </a:lnTo>
                  <a:lnTo>
                    <a:pt x="433197" y="541528"/>
                  </a:lnTo>
                  <a:lnTo>
                    <a:pt x="0" y="541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83" r="2" b="-583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0587407" y="7339603"/>
            <a:ext cx="4808162" cy="441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7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Administración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587407" y="7866518"/>
            <a:ext cx="4666059" cy="828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212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Gestión de perfiles de cajeros y creación de promociones/ofertas.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47890" y="6528797"/>
            <a:ext cx="8060684" cy="2460279"/>
            <a:chOff x="0" y="0"/>
            <a:chExt cx="10747578" cy="328037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747629" cy="3280410"/>
            </a:xfrm>
            <a:custGeom>
              <a:avLst/>
              <a:gdLst/>
              <a:ahLst/>
              <a:cxnLst/>
              <a:rect r="r" b="b" t="t" l="l"/>
              <a:pathLst>
                <a:path h="3280410" w="10747629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503789" y="0"/>
                  </a:lnTo>
                  <a:cubicBezTo>
                    <a:pt x="10638409" y="0"/>
                    <a:pt x="10747629" y="109220"/>
                    <a:pt x="10747629" y="243840"/>
                  </a:cubicBezTo>
                  <a:lnTo>
                    <a:pt x="10747629" y="3036570"/>
                  </a:lnTo>
                  <a:cubicBezTo>
                    <a:pt x="10747629" y="3171190"/>
                    <a:pt x="10638409" y="3280410"/>
                    <a:pt x="10503789" y="3280410"/>
                  </a:cubicBezTo>
                  <a:lnTo>
                    <a:pt x="243840" y="3280410"/>
                  </a:lnTo>
                  <a:cubicBezTo>
                    <a:pt x="109220" y="3280410"/>
                    <a:pt x="0" y="3171190"/>
                    <a:pt x="0" y="3036570"/>
                  </a:cubicBezTo>
                  <a:close/>
                </a:path>
              </a:pathLst>
            </a:custGeom>
            <a:solidFill>
              <a:srgbClr val="2E3C4E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47890" y="6490697"/>
            <a:ext cx="8060684" cy="152400"/>
            <a:chOff x="0" y="0"/>
            <a:chExt cx="10747578" cy="203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747629" cy="203200"/>
            </a:xfrm>
            <a:custGeom>
              <a:avLst/>
              <a:gdLst/>
              <a:ahLst/>
              <a:cxnLst/>
              <a:rect r="r" b="b" t="t" l="l"/>
              <a:pathLst>
                <a:path h="203200" w="10747629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646029" y="0"/>
                  </a:lnTo>
                  <a:cubicBezTo>
                    <a:pt x="10702163" y="0"/>
                    <a:pt x="10747629" y="45466"/>
                    <a:pt x="10747629" y="101600"/>
                  </a:cubicBezTo>
                  <a:cubicBezTo>
                    <a:pt x="10747629" y="157734"/>
                    <a:pt x="10702163" y="203200"/>
                    <a:pt x="10646029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2589C9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4571924" y="6122641"/>
            <a:ext cx="812454" cy="812454"/>
            <a:chOff x="0" y="0"/>
            <a:chExt cx="1083272" cy="108327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83310" cy="1083310"/>
            </a:xfrm>
            <a:custGeom>
              <a:avLst/>
              <a:gdLst/>
              <a:ahLst/>
              <a:cxnLst/>
              <a:rect r="r" b="b" t="t" l="l"/>
              <a:pathLst>
                <a:path h="1083310" w="1083310">
                  <a:moveTo>
                    <a:pt x="0" y="541655"/>
                  </a:moveTo>
                  <a:cubicBezTo>
                    <a:pt x="0" y="242443"/>
                    <a:pt x="242443" y="0"/>
                    <a:pt x="541655" y="0"/>
                  </a:cubicBezTo>
                  <a:cubicBezTo>
                    <a:pt x="840867" y="0"/>
                    <a:pt x="1083310" y="242443"/>
                    <a:pt x="1083310" y="541655"/>
                  </a:cubicBezTo>
                  <a:cubicBezTo>
                    <a:pt x="1083310" y="840867"/>
                    <a:pt x="840740" y="1083310"/>
                    <a:pt x="541655" y="1083310"/>
                  </a:cubicBezTo>
                  <a:cubicBezTo>
                    <a:pt x="242570" y="1083310"/>
                    <a:pt x="0" y="840740"/>
                    <a:pt x="0" y="541655"/>
                  </a:cubicBezTo>
                  <a:close/>
                </a:path>
              </a:pathLst>
            </a:custGeom>
            <a:solidFill>
              <a:srgbClr val="2589C9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815707" y="6325791"/>
            <a:ext cx="324888" cy="406156"/>
            <a:chOff x="0" y="0"/>
            <a:chExt cx="433184" cy="541541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433197" cy="541528"/>
            </a:xfrm>
            <a:custGeom>
              <a:avLst/>
              <a:gdLst/>
              <a:ahLst/>
              <a:cxnLst/>
              <a:rect r="r" b="b" t="t" l="l"/>
              <a:pathLst>
                <a:path h="541528" w="433197">
                  <a:moveTo>
                    <a:pt x="0" y="0"/>
                  </a:moveTo>
                  <a:lnTo>
                    <a:pt x="433197" y="0"/>
                  </a:lnTo>
                  <a:lnTo>
                    <a:pt x="433197" y="541528"/>
                  </a:lnTo>
                  <a:lnTo>
                    <a:pt x="0" y="541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583" r="2" b="-583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4150746" y="7177240"/>
            <a:ext cx="1654820" cy="441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7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Reportes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56709" y="7737272"/>
            <a:ext cx="7443045" cy="828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212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Ventas desglosadas por sucursal, periodo, cajero y producto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2206203" y="2869195"/>
            <a:ext cx="5283698" cy="2893666"/>
            <a:chOff x="0" y="0"/>
            <a:chExt cx="7044931" cy="385822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044944" cy="3858260"/>
            </a:xfrm>
            <a:custGeom>
              <a:avLst/>
              <a:gdLst/>
              <a:ahLst/>
              <a:cxnLst/>
              <a:rect r="r" b="b" t="t" l="l"/>
              <a:pathLst>
                <a:path h="3858260" w="7044944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801104" y="0"/>
                  </a:lnTo>
                  <a:cubicBezTo>
                    <a:pt x="6935724" y="0"/>
                    <a:pt x="7044944" y="109220"/>
                    <a:pt x="7044944" y="243840"/>
                  </a:cubicBezTo>
                  <a:lnTo>
                    <a:pt x="7044944" y="3614420"/>
                  </a:lnTo>
                  <a:cubicBezTo>
                    <a:pt x="7044944" y="3749040"/>
                    <a:pt x="6935724" y="3858260"/>
                    <a:pt x="6801104" y="3858260"/>
                  </a:cubicBezTo>
                  <a:lnTo>
                    <a:pt x="243840" y="3858260"/>
                  </a:lnTo>
                  <a:cubicBezTo>
                    <a:pt x="109220" y="3858260"/>
                    <a:pt x="0" y="3749040"/>
                    <a:pt x="0" y="3614420"/>
                  </a:cubicBezTo>
                  <a:close/>
                </a:path>
              </a:pathLst>
            </a:custGeom>
            <a:solidFill>
              <a:srgbClr val="2E3C4E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178888" y="2920155"/>
            <a:ext cx="5283698" cy="152400"/>
            <a:chOff x="0" y="0"/>
            <a:chExt cx="7044931" cy="203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044944" cy="203200"/>
            </a:xfrm>
            <a:custGeom>
              <a:avLst/>
              <a:gdLst/>
              <a:ahLst/>
              <a:cxnLst/>
              <a:rect r="r" b="b" t="t" l="l"/>
              <a:pathLst>
                <a:path h="203200" w="7044944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943344" y="0"/>
                  </a:lnTo>
                  <a:cubicBezTo>
                    <a:pt x="6999477" y="0"/>
                    <a:pt x="7044944" y="45466"/>
                    <a:pt x="7044944" y="101600"/>
                  </a:cubicBezTo>
                  <a:cubicBezTo>
                    <a:pt x="7044944" y="157734"/>
                    <a:pt x="6999477" y="203200"/>
                    <a:pt x="6943344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2589C9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4414510" y="2552109"/>
            <a:ext cx="812454" cy="812454"/>
            <a:chOff x="0" y="0"/>
            <a:chExt cx="1083272" cy="108327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83310" cy="1083310"/>
            </a:xfrm>
            <a:custGeom>
              <a:avLst/>
              <a:gdLst/>
              <a:ahLst/>
              <a:cxnLst/>
              <a:rect r="r" b="b" t="t" l="l"/>
              <a:pathLst>
                <a:path h="1083310" w="1083310">
                  <a:moveTo>
                    <a:pt x="0" y="541655"/>
                  </a:moveTo>
                  <a:cubicBezTo>
                    <a:pt x="0" y="242443"/>
                    <a:pt x="242443" y="0"/>
                    <a:pt x="541655" y="0"/>
                  </a:cubicBezTo>
                  <a:cubicBezTo>
                    <a:pt x="840867" y="0"/>
                    <a:pt x="1083310" y="242443"/>
                    <a:pt x="1083310" y="541655"/>
                  </a:cubicBezTo>
                  <a:cubicBezTo>
                    <a:pt x="1083310" y="840867"/>
                    <a:pt x="840740" y="1083310"/>
                    <a:pt x="541655" y="1083310"/>
                  </a:cubicBezTo>
                  <a:cubicBezTo>
                    <a:pt x="242570" y="1083310"/>
                    <a:pt x="0" y="840740"/>
                    <a:pt x="0" y="541655"/>
                  </a:cubicBezTo>
                  <a:close/>
                </a:path>
              </a:pathLst>
            </a:custGeom>
            <a:solidFill>
              <a:srgbClr val="2589C9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4658283" y="2755259"/>
            <a:ext cx="324888" cy="406156"/>
            <a:chOff x="0" y="0"/>
            <a:chExt cx="433184" cy="541541"/>
          </a:xfrm>
        </p:grpSpPr>
        <p:sp>
          <p:nvSpPr>
            <p:cNvPr name="Freeform 50" id="50" descr="preencoded.png"/>
            <p:cNvSpPr/>
            <p:nvPr/>
          </p:nvSpPr>
          <p:spPr>
            <a:xfrm flipH="false" flipV="false" rot="0">
              <a:off x="0" y="0"/>
              <a:ext cx="433197" cy="541528"/>
            </a:xfrm>
            <a:custGeom>
              <a:avLst/>
              <a:gdLst/>
              <a:ahLst/>
              <a:cxnLst/>
              <a:rect r="r" b="b" t="t" l="l"/>
              <a:pathLst>
                <a:path h="541528" w="433197">
                  <a:moveTo>
                    <a:pt x="0" y="0"/>
                  </a:moveTo>
                  <a:lnTo>
                    <a:pt x="433197" y="0"/>
                  </a:lnTo>
                  <a:lnTo>
                    <a:pt x="433197" y="541528"/>
                  </a:lnTo>
                  <a:lnTo>
                    <a:pt x="0" y="541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83" r="2" b="-583"/>
              </a:stretch>
            </a:blip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12487698" y="3335988"/>
            <a:ext cx="4808162" cy="879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7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Inventario y Abastecimiento 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487698" y="4271067"/>
            <a:ext cx="4666059" cy="125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212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Ingreso de facturas por escaneo QR, stock en tiempo real, alertas y ajustes manuales justificados.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7678400" y="9163050"/>
            <a:ext cx="38100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4318" y="865737"/>
            <a:ext cx="7604522" cy="40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4500" b="true">
                <a:solidFill>
                  <a:srgbClr val="2589C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Historias de Usuario</a:t>
            </a:r>
            <a:r>
              <a:rPr lang="en-US" sz="4500" b="true">
                <a:solidFill>
                  <a:srgbClr val="2E3C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Perspectivas Clave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59936" y="2524130"/>
            <a:ext cx="5331619" cy="5542207"/>
            <a:chOff x="0" y="0"/>
            <a:chExt cx="7108825" cy="73896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108825" cy="7389623"/>
            </a:xfrm>
            <a:custGeom>
              <a:avLst/>
              <a:gdLst/>
              <a:ahLst/>
              <a:cxnLst/>
              <a:rect r="r" b="b" t="t" l="l"/>
              <a:pathLst>
                <a:path h="7389623" w="7108825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25945" y="0"/>
                  </a:lnTo>
                  <a:cubicBezTo>
                    <a:pt x="7026910" y="0"/>
                    <a:pt x="7108825" y="81915"/>
                    <a:pt x="7108825" y="182880"/>
                  </a:cubicBezTo>
                  <a:lnTo>
                    <a:pt x="7108825" y="7206742"/>
                  </a:lnTo>
                  <a:cubicBezTo>
                    <a:pt x="7108825" y="7307707"/>
                    <a:pt x="7026910" y="7389623"/>
                    <a:pt x="6925945" y="7389623"/>
                  </a:cubicBezTo>
                  <a:lnTo>
                    <a:pt x="182880" y="7389623"/>
                  </a:lnTo>
                  <a:cubicBezTo>
                    <a:pt x="81915" y="7389623"/>
                    <a:pt x="0" y="7307707"/>
                    <a:pt x="0" y="7206742"/>
                  </a:cubicBezTo>
                  <a:close/>
                </a:path>
              </a:pathLst>
            </a:custGeom>
            <a:solidFill>
              <a:srgbClr val="F4FB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59936" y="2495555"/>
            <a:ext cx="5331619" cy="114300"/>
            <a:chOff x="0" y="0"/>
            <a:chExt cx="7108825" cy="152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108825" cy="152400"/>
            </a:xfrm>
            <a:custGeom>
              <a:avLst/>
              <a:gdLst/>
              <a:ahLst/>
              <a:cxnLst/>
              <a:rect r="r" b="b" t="t" l="l"/>
              <a:pathLst>
                <a:path h="152400" w="7108825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7032625" y="0"/>
                  </a:lnTo>
                  <a:cubicBezTo>
                    <a:pt x="7074662" y="0"/>
                    <a:pt x="7108825" y="34163"/>
                    <a:pt x="7108825" y="76200"/>
                  </a:cubicBezTo>
                  <a:cubicBezTo>
                    <a:pt x="7108825" y="118237"/>
                    <a:pt x="7074662" y="152400"/>
                    <a:pt x="7032625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063E5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222203" y="2220663"/>
            <a:ext cx="607066" cy="607066"/>
            <a:chOff x="0" y="0"/>
            <a:chExt cx="809422" cy="8094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09371" cy="809371"/>
            </a:xfrm>
            <a:custGeom>
              <a:avLst/>
              <a:gdLst/>
              <a:ahLst/>
              <a:cxnLst/>
              <a:rect r="r" b="b" t="t" l="l"/>
              <a:pathLst>
                <a:path h="809371" w="809371">
                  <a:moveTo>
                    <a:pt x="0" y="404749"/>
                  </a:moveTo>
                  <a:cubicBezTo>
                    <a:pt x="0" y="181229"/>
                    <a:pt x="181229" y="0"/>
                    <a:pt x="404749" y="0"/>
                  </a:cubicBezTo>
                  <a:cubicBezTo>
                    <a:pt x="628269" y="0"/>
                    <a:pt x="809371" y="181229"/>
                    <a:pt x="809371" y="404749"/>
                  </a:cubicBezTo>
                  <a:cubicBezTo>
                    <a:pt x="809371" y="628269"/>
                    <a:pt x="628269" y="809371"/>
                    <a:pt x="404749" y="809371"/>
                  </a:cubicBezTo>
                  <a:cubicBezTo>
                    <a:pt x="181229" y="809371"/>
                    <a:pt x="0" y="628269"/>
                    <a:pt x="0" y="404749"/>
                  </a:cubicBezTo>
                  <a:close/>
                </a:path>
              </a:pathLst>
            </a:custGeom>
            <a:solidFill>
              <a:srgbClr val="063E5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3479022" y="2296273"/>
            <a:ext cx="93427" cy="361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187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0765" y="3020468"/>
            <a:ext cx="1725997" cy="322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Como </a:t>
            </a:r>
            <a:r>
              <a:rPr lang="en-US" sz="20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Cajero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0765" y="3417394"/>
            <a:ext cx="4869952" cy="442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0769" indent="-140384" lvl="1">
              <a:lnSpc>
                <a:spcPts val="2979"/>
              </a:lnSpc>
              <a:buFont typeface="Arial"/>
              <a:buChar char="•"/>
            </a:pPr>
            <a:r>
              <a:rPr lang="en-US" b="true" sz="1862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Quiero </a:t>
            </a:r>
            <a:r>
              <a:rPr lang="en-US" sz="18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escanear el código de barras o QR de un producto con la pistola lectora o la cámara del celular, </a:t>
            </a:r>
            <a:r>
              <a:rPr lang="en-US" b="true" sz="1862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Para </a:t>
            </a:r>
            <a:r>
              <a:rPr lang="en-US" sz="18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agregarlo a la venta de forma rápida y sin errores.</a:t>
            </a:r>
          </a:p>
          <a:p>
            <a:pPr algn="l">
              <a:lnSpc>
                <a:spcPts val="2979"/>
              </a:lnSpc>
            </a:pPr>
          </a:p>
          <a:p>
            <a:pPr algn="l" marL="280769" indent="-140384" lvl="1">
              <a:lnSpc>
                <a:spcPts val="2979"/>
              </a:lnSpc>
              <a:buFont typeface="Arial"/>
              <a:buChar char="•"/>
            </a:pPr>
            <a:r>
              <a:rPr lang="en-US" b="true" sz="1862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Quiero</a:t>
            </a:r>
            <a:r>
              <a:rPr lang="en-US" sz="18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buscar un producto manualmente o desde un catálogo visual, </a:t>
            </a:r>
            <a:r>
              <a:rPr lang="en-US" b="true" sz="1862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Para</a:t>
            </a:r>
            <a:r>
              <a:rPr lang="en-US" sz="18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venderlo cuando no cuenta con código de barras o el escaneo falla.</a:t>
            </a:r>
          </a:p>
          <a:p>
            <a:pPr algn="l">
              <a:lnSpc>
                <a:spcPts val="2979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6393809" y="2524130"/>
            <a:ext cx="5331619" cy="5542207"/>
            <a:chOff x="0" y="0"/>
            <a:chExt cx="7108825" cy="738960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08825" cy="7389623"/>
            </a:xfrm>
            <a:custGeom>
              <a:avLst/>
              <a:gdLst/>
              <a:ahLst/>
              <a:cxnLst/>
              <a:rect r="r" b="b" t="t" l="l"/>
              <a:pathLst>
                <a:path h="7389623" w="7108825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25945" y="0"/>
                  </a:lnTo>
                  <a:cubicBezTo>
                    <a:pt x="7026910" y="0"/>
                    <a:pt x="7108825" y="81915"/>
                    <a:pt x="7108825" y="182880"/>
                  </a:cubicBezTo>
                  <a:lnTo>
                    <a:pt x="7108825" y="7206742"/>
                  </a:lnTo>
                  <a:cubicBezTo>
                    <a:pt x="7108825" y="7307707"/>
                    <a:pt x="7026910" y="7389623"/>
                    <a:pt x="6925945" y="7389623"/>
                  </a:cubicBezTo>
                  <a:lnTo>
                    <a:pt x="182880" y="7389623"/>
                  </a:lnTo>
                  <a:cubicBezTo>
                    <a:pt x="81915" y="7389623"/>
                    <a:pt x="0" y="7307707"/>
                    <a:pt x="0" y="7206742"/>
                  </a:cubicBezTo>
                  <a:close/>
                </a:path>
              </a:pathLst>
            </a:custGeom>
            <a:solidFill>
              <a:srgbClr val="F4FB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393809" y="2495555"/>
            <a:ext cx="5331619" cy="114300"/>
            <a:chOff x="0" y="0"/>
            <a:chExt cx="7108825" cy="152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08825" cy="152400"/>
            </a:xfrm>
            <a:custGeom>
              <a:avLst/>
              <a:gdLst/>
              <a:ahLst/>
              <a:cxnLst/>
              <a:rect r="r" b="b" t="t" l="l"/>
              <a:pathLst>
                <a:path h="152400" w="7108825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7032625" y="0"/>
                  </a:lnTo>
                  <a:cubicBezTo>
                    <a:pt x="7074662" y="0"/>
                    <a:pt x="7108825" y="34163"/>
                    <a:pt x="7108825" y="76200"/>
                  </a:cubicBezTo>
                  <a:cubicBezTo>
                    <a:pt x="7108825" y="118237"/>
                    <a:pt x="7074662" y="152400"/>
                    <a:pt x="7032625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063E5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756085" y="2220663"/>
            <a:ext cx="607066" cy="607066"/>
            <a:chOff x="0" y="0"/>
            <a:chExt cx="809422" cy="80942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09371" cy="809371"/>
            </a:xfrm>
            <a:custGeom>
              <a:avLst/>
              <a:gdLst/>
              <a:ahLst/>
              <a:cxnLst/>
              <a:rect r="r" b="b" t="t" l="l"/>
              <a:pathLst>
                <a:path h="809371" w="809371">
                  <a:moveTo>
                    <a:pt x="0" y="404749"/>
                  </a:moveTo>
                  <a:cubicBezTo>
                    <a:pt x="0" y="181229"/>
                    <a:pt x="181229" y="0"/>
                    <a:pt x="404749" y="0"/>
                  </a:cubicBezTo>
                  <a:cubicBezTo>
                    <a:pt x="628269" y="0"/>
                    <a:pt x="809371" y="181229"/>
                    <a:pt x="809371" y="404749"/>
                  </a:cubicBezTo>
                  <a:cubicBezTo>
                    <a:pt x="809371" y="628269"/>
                    <a:pt x="628269" y="809371"/>
                    <a:pt x="404749" y="809371"/>
                  </a:cubicBezTo>
                  <a:cubicBezTo>
                    <a:pt x="181229" y="809371"/>
                    <a:pt x="0" y="628269"/>
                    <a:pt x="0" y="404749"/>
                  </a:cubicBezTo>
                  <a:close/>
                </a:path>
              </a:pathLst>
            </a:custGeom>
            <a:solidFill>
              <a:srgbClr val="063E5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8989353" y="2296273"/>
            <a:ext cx="140531" cy="361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187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24638" y="3020468"/>
            <a:ext cx="2018221" cy="322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Como </a:t>
            </a:r>
            <a:r>
              <a:rPr lang="en-US" sz="20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Gerente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24638" y="3417394"/>
            <a:ext cx="4869952" cy="3686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0769" indent="-140384" lvl="1">
              <a:lnSpc>
                <a:spcPts val="2979"/>
              </a:lnSpc>
              <a:buFont typeface="Arial"/>
              <a:buChar char="•"/>
            </a:pPr>
            <a:r>
              <a:rPr lang="en-US" b="true" sz="1862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Qui</a:t>
            </a:r>
            <a:r>
              <a:rPr lang="en-US" b="true" sz="1862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ero </a:t>
            </a:r>
            <a:r>
              <a:rPr lang="en-US" sz="18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crear y programar promociones u ofertas,</a:t>
            </a:r>
            <a:r>
              <a:rPr lang="en-US" b="true" sz="1862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Para </a:t>
            </a:r>
            <a:r>
              <a:rPr lang="en-US" sz="18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aplicar precios especiales o descuentos automáticos en caja.</a:t>
            </a:r>
          </a:p>
          <a:p>
            <a:pPr algn="l">
              <a:lnSpc>
                <a:spcPts val="2979"/>
              </a:lnSpc>
            </a:pPr>
          </a:p>
          <a:p>
            <a:pPr algn="l" marL="280887" indent="-140443" lvl="1">
              <a:lnSpc>
                <a:spcPts val="2979"/>
              </a:lnSpc>
              <a:buFont typeface="Arial"/>
              <a:buChar char="•"/>
            </a:pPr>
            <a:r>
              <a:rPr lang="en-US" b="true" sz="1862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Quiero </a:t>
            </a:r>
            <a:r>
              <a:rPr lang="en-US" sz="18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ver un reporte de ventas detallados por producto, </a:t>
            </a:r>
            <a:r>
              <a:rPr lang="en-US" b="true" sz="1862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Para </a:t>
            </a:r>
            <a:r>
              <a:rPr lang="en-US" sz="18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identificar qué productos se venden más y cuáles están más estancados en el inventario. 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927681" y="2524130"/>
            <a:ext cx="5331619" cy="5542207"/>
            <a:chOff x="0" y="0"/>
            <a:chExt cx="7108825" cy="738960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08825" cy="7389623"/>
            </a:xfrm>
            <a:custGeom>
              <a:avLst/>
              <a:gdLst/>
              <a:ahLst/>
              <a:cxnLst/>
              <a:rect r="r" b="b" t="t" l="l"/>
              <a:pathLst>
                <a:path h="7389623" w="7108825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25945" y="0"/>
                  </a:lnTo>
                  <a:cubicBezTo>
                    <a:pt x="7026910" y="0"/>
                    <a:pt x="7108825" y="81915"/>
                    <a:pt x="7108825" y="182880"/>
                  </a:cubicBezTo>
                  <a:lnTo>
                    <a:pt x="7108825" y="7206742"/>
                  </a:lnTo>
                  <a:cubicBezTo>
                    <a:pt x="7108825" y="7307707"/>
                    <a:pt x="7026910" y="7389623"/>
                    <a:pt x="6925945" y="7389623"/>
                  </a:cubicBezTo>
                  <a:lnTo>
                    <a:pt x="182880" y="7389623"/>
                  </a:lnTo>
                  <a:cubicBezTo>
                    <a:pt x="81915" y="7389623"/>
                    <a:pt x="0" y="7307707"/>
                    <a:pt x="0" y="7206742"/>
                  </a:cubicBezTo>
                  <a:close/>
                </a:path>
              </a:pathLst>
            </a:custGeom>
            <a:solidFill>
              <a:srgbClr val="F4FB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927681" y="2495555"/>
            <a:ext cx="5331619" cy="114300"/>
            <a:chOff x="0" y="0"/>
            <a:chExt cx="7108825" cy="152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08825" cy="152400"/>
            </a:xfrm>
            <a:custGeom>
              <a:avLst/>
              <a:gdLst/>
              <a:ahLst/>
              <a:cxnLst/>
              <a:rect r="r" b="b" t="t" l="l"/>
              <a:pathLst>
                <a:path h="152400" w="7108825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7032625" y="0"/>
                  </a:lnTo>
                  <a:cubicBezTo>
                    <a:pt x="7074662" y="0"/>
                    <a:pt x="7108825" y="34163"/>
                    <a:pt x="7108825" y="76200"/>
                  </a:cubicBezTo>
                  <a:cubicBezTo>
                    <a:pt x="7108825" y="118237"/>
                    <a:pt x="7074662" y="152400"/>
                    <a:pt x="7032625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063E5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4289957" y="2220663"/>
            <a:ext cx="607066" cy="607066"/>
            <a:chOff x="0" y="0"/>
            <a:chExt cx="809422" cy="80942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09371" cy="809371"/>
            </a:xfrm>
            <a:custGeom>
              <a:avLst/>
              <a:gdLst/>
              <a:ahLst/>
              <a:cxnLst/>
              <a:rect r="r" b="b" t="t" l="l"/>
              <a:pathLst>
                <a:path h="809371" w="809371">
                  <a:moveTo>
                    <a:pt x="0" y="404749"/>
                  </a:moveTo>
                  <a:cubicBezTo>
                    <a:pt x="0" y="181229"/>
                    <a:pt x="181229" y="0"/>
                    <a:pt x="404749" y="0"/>
                  </a:cubicBezTo>
                  <a:cubicBezTo>
                    <a:pt x="628269" y="0"/>
                    <a:pt x="809371" y="181229"/>
                    <a:pt x="809371" y="404749"/>
                  </a:cubicBezTo>
                  <a:cubicBezTo>
                    <a:pt x="809371" y="628269"/>
                    <a:pt x="628269" y="809371"/>
                    <a:pt x="404749" y="809371"/>
                  </a:cubicBezTo>
                  <a:cubicBezTo>
                    <a:pt x="181229" y="809371"/>
                    <a:pt x="0" y="628269"/>
                    <a:pt x="0" y="404749"/>
                  </a:cubicBezTo>
                  <a:close/>
                </a:path>
              </a:pathLst>
            </a:custGeom>
            <a:solidFill>
              <a:srgbClr val="063E5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4523002" y="2296273"/>
            <a:ext cx="140977" cy="361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187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58520" y="3020468"/>
            <a:ext cx="2364693" cy="322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Como </a:t>
            </a:r>
            <a:r>
              <a:rPr lang="en-US" sz="20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Bodeguero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158520" y="3417394"/>
            <a:ext cx="4869952" cy="442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0769" indent="-140384" lvl="1">
              <a:lnSpc>
                <a:spcPts val="2979"/>
              </a:lnSpc>
              <a:buFont typeface="Arial"/>
              <a:buChar char="•"/>
            </a:pPr>
            <a:r>
              <a:rPr lang="en-US" b="true" sz="1862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Quiero </a:t>
            </a:r>
            <a:r>
              <a:rPr lang="en-US" sz="18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que el sistema reste automáticamente los ingredientes de la base de datos al realizar una venta,</a:t>
            </a:r>
            <a:r>
              <a:rPr lang="en-US" b="true" sz="1862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Para </a:t>
            </a:r>
            <a:r>
              <a:rPr lang="en-US" sz="18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mantener el inventario siempre actualizado.</a:t>
            </a:r>
          </a:p>
          <a:p>
            <a:pPr algn="l">
              <a:lnSpc>
                <a:spcPts val="2979"/>
              </a:lnSpc>
            </a:pPr>
          </a:p>
          <a:p>
            <a:pPr algn="l" marL="280769" indent="-140384" lvl="1">
              <a:lnSpc>
                <a:spcPts val="2979"/>
              </a:lnSpc>
              <a:buFont typeface="Arial"/>
              <a:buChar char="•"/>
            </a:pPr>
            <a:r>
              <a:rPr lang="en-US" b="true" sz="1862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Quiero </a:t>
            </a:r>
            <a:r>
              <a:rPr lang="en-US" sz="18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visualizar un panel de monitoreo de stock en tiempo real,</a:t>
            </a:r>
            <a:r>
              <a:rPr lang="en-US" b="true" sz="1862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Para</a:t>
            </a:r>
            <a:r>
              <a:rPr lang="en-US" sz="18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saber con precisión cuánta mercadería física hay disponible en cualquier momento.</a:t>
            </a:r>
          </a:p>
          <a:p>
            <a:pPr algn="l">
              <a:lnSpc>
                <a:spcPts val="2979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7678400" y="9163050"/>
            <a:ext cx="38100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 strike="noStrike" u="none">
                <a:solidFill>
                  <a:srgbClr val="2E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57934" y="2228926"/>
            <a:ext cx="142132" cy="142132"/>
            <a:chOff x="0" y="0"/>
            <a:chExt cx="189509" cy="18950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189484" cy="189484"/>
            </a:xfrm>
            <a:custGeom>
              <a:avLst/>
              <a:gdLst/>
              <a:ahLst/>
              <a:cxnLst/>
              <a:rect r="r" b="b" t="t" l="l"/>
              <a:pathLst>
                <a:path h="189484" w="189484">
                  <a:moveTo>
                    <a:pt x="0" y="0"/>
                  </a:moveTo>
                  <a:lnTo>
                    <a:pt x="189484" y="0"/>
                  </a:lnTo>
                  <a:lnTo>
                    <a:pt x="189484" y="189484"/>
                  </a:lnTo>
                  <a:lnTo>
                    <a:pt x="0" y="1894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3" b="-1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344896" y="1347762"/>
            <a:ext cx="15598208" cy="8559517"/>
          </a:xfrm>
          <a:custGeom>
            <a:avLst/>
            <a:gdLst/>
            <a:ahLst/>
            <a:cxnLst/>
            <a:rect r="r" b="b" t="t" l="l"/>
            <a:pathLst>
              <a:path h="8559517" w="15598208">
                <a:moveTo>
                  <a:pt x="0" y="0"/>
                </a:moveTo>
                <a:lnTo>
                  <a:pt x="15598208" y="0"/>
                </a:lnTo>
                <a:lnTo>
                  <a:pt x="15598208" y="8559517"/>
                </a:lnTo>
                <a:lnTo>
                  <a:pt x="0" y="855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25634" y="839762"/>
            <a:ext cx="13465326" cy="50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4"/>
              </a:lnSpc>
            </a:pPr>
            <a:r>
              <a:rPr lang="en-US" sz="3999" b="true">
                <a:solidFill>
                  <a:srgbClr val="2589C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Arquitectura</a:t>
            </a:r>
            <a:r>
              <a:rPr lang="en-US" sz="3999" b="true">
                <a:solidFill>
                  <a:srgbClr val="2E3C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Flujo del Sistema NuryBase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373600" y="9163050"/>
            <a:ext cx="762000" cy="88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42"/>
              </a:lnSpc>
              <a:spcBef>
                <a:spcPct val="0"/>
              </a:spcBef>
            </a:pPr>
            <a:r>
              <a:rPr lang="en-US" b="true" sz="5244" strike="noStrike" u="none">
                <a:solidFill>
                  <a:srgbClr val="2E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3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890" y="1052513"/>
            <a:ext cx="8306838" cy="72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500" b="true">
                <a:solidFill>
                  <a:srgbClr val="2589C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Metodología </a:t>
            </a:r>
            <a:r>
              <a:rPr lang="en-US" sz="4500" b="true">
                <a:solidFill>
                  <a:srgbClr val="F4FB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 Desarrollo Scrum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79078" y="2921921"/>
            <a:ext cx="3071217" cy="441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00"/>
              </a:lnSpc>
            </a:pPr>
            <a:r>
              <a:rPr lang="en-US" sz="27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Product Backlog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54036" y="3426543"/>
            <a:ext cx="4921301" cy="828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212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Historias de usuario sobre ventas,  inventario y reportes.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275337" y="2316213"/>
            <a:ext cx="5737174" cy="5737174"/>
            <a:chOff x="0" y="0"/>
            <a:chExt cx="7649566" cy="7649566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7649591" cy="7649591"/>
            </a:xfrm>
            <a:custGeom>
              <a:avLst/>
              <a:gdLst/>
              <a:ahLst/>
              <a:cxnLst/>
              <a:rect r="r" b="b" t="t" l="l"/>
              <a:pathLst>
                <a:path h="7649591" w="7649591">
                  <a:moveTo>
                    <a:pt x="0" y="0"/>
                  </a:moveTo>
                  <a:lnTo>
                    <a:pt x="7649591" y="0"/>
                  </a:lnTo>
                  <a:lnTo>
                    <a:pt x="7649591" y="7649591"/>
                  </a:lnTo>
                  <a:lnTo>
                    <a:pt x="0" y="7649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543876" y="3489503"/>
            <a:ext cx="405108" cy="506463"/>
            <a:chOff x="0" y="0"/>
            <a:chExt cx="540144" cy="675284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540131" cy="675259"/>
            </a:xfrm>
            <a:custGeom>
              <a:avLst/>
              <a:gdLst/>
              <a:ahLst/>
              <a:cxnLst/>
              <a:rect r="r" b="b" t="t" l="l"/>
              <a:pathLst>
                <a:path h="675259" w="540131">
                  <a:moveTo>
                    <a:pt x="0" y="0"/>
                  </a:moveTo>
                  <a:lnTo>
                    <a:pt x="540131" y="0"/>
                  </a:lnTo>
                  <a:lnTo>
                    <a:pt x="540131" y="675259"/>
                  </a:lnTo>
                  <a:lnTo>
                    <a:pt x="0" y="675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14" t="0" r="-717" b="-3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418666" y="2371134"/>
            <a:ext cx="3563388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Sprint Planning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18666" y="2931166"/>
            <a:ext cx="4921453" cy="828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12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Definir objetivos de backend, integración SII y pruebas por sprint.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275337" y="2316213"/>
            <a:ext cx="5737174" cy="5737174"/>
            <a:chOff x="0" y="0"/>
            <a:chExt cx="7649566" cy="7649566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7649591" cy="7649591"/>
            </a:xfrm>
            <a:custGeom>
              <a:avLst/>
              <a:gdLst/>
              <a:ahLst/>
              <a:cxnLst/>
              <a:rect r="r" b="b" t="t" l="l"/>
              <a:pathLst>
                <a:path h="7649591" w="7649591">
                  <a:moveTo>
                    <a:pt x="0" y="0"/>
                  </a:moveTo>
                  <a:lnTo>
                    <a:pt x="7649591" y="0"/>
                  </a:lnTo>
                  <a:lnTo>
                    <a:pt x="7649591" y="7649591"/>
                  </a:lnTo>
                  <a:lnTo>
                    <a:pt x="0" y="7649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880778" y="3156871"/>
            <a:ext cx="405108" cy="506463"/>
            <a:chOff x="0" y="0"/>
            <a:chExt cx="540144" cy="675284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540131" cy="675259"/>
            </a:xfrm>
            <a:custGeom>
              <a:avLst/>
              <a:gdLst/>
              <a:ahLst/>
              <a:cxnLst/>
              <a:rect r="r" b="b" t="t" l="l"/>
              <a:pathLst>
                <a:path h="675259" w="540131">
                  <a:moveTo>
                    <a:pt x="0" y="0"/>
                  </a:moveTo>
                  <a:lnTo>
                    <a:pt x="540131" y="0"/>
                  </a:lnTo>
                  <a:lnTo>
                    <a:pt x="540131" y="675259"/>
                  </a:lnTo>
                  <a:lnTo>
                    <a:pt x="0" y="675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14" t="0" r="-717" b="-3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554102" y="4418857"/>
            <a:ext cx="3563388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Daily Scrum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54102" y="4978898"/>
            <a:ext cx="5120251" cy="125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12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Sincronizar avances del equipo en punto de venta, backend e integración SII.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275337" y="2316213"/>
            <a:ext cx="5737174" cy="5737174"/>
            <a:chOff x="0" y="0"/>
            <a:chExt cx="7649566" cy="7649566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7649591" cy="7649591"/>
            </a:xfrm>
            <a:custGeom>
              <a:avLst/>
              <a:gdLst/>
              <a:ahLst/>
              <a:cxnLst/>
              <a:rect r="r" b="b" t="t" l="l"/>
              <a:pathLst>
                <a:path h="7649591" w="7649591">
                  <a:moveTo>
                    <a:pt x="0" y="0"/>
                  </a:moveTo>
                  <a:lnTo>
                    <a:pt x="7649591" y="0"/>
                  </a:lnTo>
                  <a:lnTo>
                    <a:pt x="7649591" y="7649591"/>
                  </a:lnTo>
                  <a:lnTo>
                    <a:pt x="0" y="7649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919298" y="5276774"/>
            <a:ext cx="405108" cy="506463"/>
            <a:chOff x="0" y="0"/>
            <a:chExt cx="540144" cy="675284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540131" cy="675259"/>
            </a:xfrm>
            <a:custGeom>
              <a:avLst/>
              <a:gdLst/>
              <a:ahLst/>
              <a:cxnLst/>
              <a:rect r="r" b="b" t="t" l="l"/>
              <a:pathLst>
                <a:path h="675259" w="540131">
                  <a:moveTo>
                    <a:pt x="0" y="0"/>
                  </a:moveTo>
                  <a:lnTo>
                    <a:pt x="540131" y="0"/>
                  </a:lnTo>
                  <a:lnTo>
                    <a:pt x="540131" y="675259"/>
                  </a:lnTo>
                  <a:lnTo>
                    <a:pt x="0" y="675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14" t="0" r="-717" b="-3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418666" y="6466732"/>
            <a:ext cx="3563388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Sprint Review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18666" y="7026773"/>
            <a:ext cx="4921453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12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Mostrar prototipos e incrementos funcionales al cliente.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275337" y="2316213"/>
            <a:ext cx="5737174" cy="5737174"/>
            <a:chOff x="0" y="0"/>
            <a:chExt cx="7649566" cy="7649566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7649591" cy="7649591"/>
            </a:xfrm>
            <a:custGeom>
              <a:avLst/>
              <a:gdLst/>
              <a:ahLst/>
              <a:cxnLst/>
              <a:rect r="r" b="b" t="t" l="l"/>
              <a:pathLst>
                <a:path h="7649591" w="7649591">
                  <a:moveTo>
                    <a:pt x="0" y="0"/>
                  </a:moveTo>
                  <a:lnTo>
                    <a:pt x="7649591" y="0"/>
                  </a:lnTo>
                  <a:lnTo>
                    <a:pt x="7649591" y="7649591"/>
                  </a:lnTo>
                  <a:lnTo>
                    <a:pt x="0" y="7649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224143" y="6919541"/>
            <a:ext cx="405108" cy="506463"/>
            <a:chOff x="0" y="0"/>
            <a:chExt cx="540144" cy="675284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540131" cy="675259"/>
            </a:xfrm>
            <a:custGeom>
              <a:avLst/>
              <a:gdLst/>
              <a:ahLst/>
              <a:cxnLst/>
              <a:rect r="r" b="b" t="t" l="l"/>
              <a:pathLst>
                <a:path h="675259" w="540131">
                  <a:moveTo>
                    <a:pt x="0" y="0"/>
                  </a:moveTo>
                  <a:lnTo>
                    <a:pt x="540131" y="0"/>
                  </a:lnTo>
                  <a:lnTo>
                    <a:pt x="540131" y="675259"/>
                  </a:lnTo>
                  <a:lnTo>
                    <a:pt x="0" y="675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714" t="0" r="-717" b="-3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2305793" y="5954763"/>
            <a:ext cx="3563388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00"/>
              </a:lnSpc>
            </a:pPr>
            <a:r>
              <a:rPr lang="en-US" sz="27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Sprint Retrospective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7890" y="6514805"/>
            <a:ext cx="4921301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75"/>
              </a:lnSpc>
            </a:pPr>
            <a:r>
              <a:rPr lang="en-US" sz="212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Mejora continua del proceso y la solución.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6275337" y="2316213"/>
            <a:ext cx="5737174" cy="5737174"/>
            <a:chOff x="0" y="0"/>
            <a:chExt cx="7649566" cy="7649566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7649591" cy="7649591"/>
            </a:xfrm>
            <a:custGeom>
              <a:avLst/>
              <a:gdLst/>
              <a:ahLst/>
              <a:cxnLst/>
              <a:rect r="r" b="b" t="t" l="l"/>
              <a:pathLst>
                <a:path h="7649591" w="7649591">
                  <a:moveTo>
                    <a:pt x="0" y="0"/>
                  </a:moveTo>
                  <a:lnTo>
                    <a:pt x="7649591" y="0"/>
                  </a:lnTo>
                  <a:lnTo>
                    <a:pt x="7649591" y="7649591"/>
                  </a:lnTo>
                  <a:lnTo>
                    <a:pt x="0" y="7649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7138016" y="5814936"/>
            <a:ext cx="405108" cy="506463"/>
            <a:chOff x="0" y="0"/>
            <a:chExt cx="540144" cy="675284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540131" cy="675259"/>
            </a:xfrm>
            <a:custGeom>
              <a:avLst/>
              <a:gdLst/>
              <a:ahLst/>
              <a:cxnLst/>
              <a:rect r="r" b="b" t="t" l="l"/>
              <a:pathLst>
                <a:path h="675259" w="540131">
                  <a:moveTo>
                    <a:pt x="0" y="0"/>
                  </a:moveTo>
                  <a:lnTo>
                    <a:pt x="540131" y="0"/>
                  </a:lnTo>
                  <a:lnTo>
                    <a:pt x="540131" y="675259"/>
                  </a:lnTo>
                  <a:lnTo>
                    <a:pt x="0" y="675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714" t="0" r="-717" b="-3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47890" y="8281835"/>
            <a:ext cx="1639223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212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Nuestra aproximación ágil nos permite adaptarnos rápidamente a las necesidades del negocio y entregar valor de forma incremental.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7373600" y="9163050"/>
            <a:ext cx="762000" cy="88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42"/>
              </a:lnSpc>
              <a:spcBef>
                <a:spcPct val="0"/>
              </a:spcBef>
            </a:pPr>
            <a:r>
              <a:rPr lang="en-US" b="true" sz="5244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2554" y="2575101"/>
            <a:ext cx="2768377" cy="2937011"/>
            <a:chOff x="0" y="0"/>
            <a:chExt cx="4326141" cy="45896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26128" cy="4589653"/>
            </a:xfrm>
            <a:custGeom>
              <a:avLst/>
              <a:gdLst/>
              <a:ahLst/>
              <a:cxnLst/>
              <a:rect r="r" b="b" t="t" l="l"/>
              <a:pathLst>
                <a:path h="4589653" w="4326128">
                  <a:moveTo>
                    <a:pt x="0" y="0"/>
                  </a:moveTo>
                  <a:lnTo>
                    <a:pt x="4326128" y="0"/>
                  </a:lnTo>
                  <a:lnTo>
                    <a:pt x="4326128" y="4589653"/>
                  </a:lnTo>
                  <a:lnTo>
                    <a:pt x="0" y="458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045" t="0" r="-304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372538" y="2577229"/>
            <a:ext cx="2400372" cy="2928502"/>
            <a:chOff x="0" y="0"/>
            <a:chExt cx="3751059" cy="45763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51072" cy="4576318"/>
            </a:xfrm>
            <a:custGeom>
              <a:avLst/>
              <a:gdLst/>
              <a:ahLst/>
              <a:cxnLst/>
              <a:rect r="r" b="b" t="t" l="l"/>
              <a:pathLst>
                <a:path h="4576318" w="3751072">
                  <a:moveTo>
                    <a:pt x="0" y="0"/>
                  </a:moveTo>
                  <a:lnTo>
                    <a:pt x="3751072" y="0"/>
                  </a:lnTo>
                  <a:lnTo>
                    <a:pt x="3751072" y="4576318"/>
                  </a:lnTo>
                  <a:lnTo>
                    <a:pt x="0" y="45763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644" r="0" b="-464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227550" y="2570847"/>
            <a:ext cx="2768377" cy="2937011"/>
            <a:chOff x="0" y="0"/>
            <a:chExt cx="4326141" cy="45896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26128" cy="4589653"/>
            </a:xfrm>
            <a:custGeom>
              <a:avLst/>
              <a:gdLst/>
              <a:ahLst/>
              <a:cxnLst/>
              <a:rect r="r" b="b" t="t" l="l"/>
              <a:pathLst>
                <a:path h="4589653" w="4326128">
                  <a:moveTo>
                    <a:pt x="0" y="0"/>
                  </a:moveTo>
                  <a:lnTo>
                    <a:pt x="4326128" y="0"/>
                  </a:lnTo>
                  <a:lnTo>
                    <a:pt x="4326128" y="4589653"/>
                  </a:lnTo>
                  <a:lnTo>
                    <a:pt x="0" y="458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045" t="0" r="-304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42546" y="2572974"/>
            <a:ext cx="2768377" cy="2937011"/>
            <a:chOff x="0" y="0"/>
            <a:chExt cx="4326141" cy="45896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26128" cy="4589653"/>
            </a:xfrm>
            <a:custGeom>
              <a:avLst/>
              <a:gdLst/>
              <a:ahLst/>
              <a:cxnLst/>
              <a:rect r="r" b="b" t="t" l="l"/>
              <a:pathLst>
                <a:path h="4589653" w="4326128">
                  <a:moveTo>
                    <a:pt x="0" y="0"/>
                  </a:moveTo>
                  <a:lnTo>
                    <a:pt x="4326128" y="0"/>
                  </a:lnTo>
                  <a:lnTo>
                    <a:pt x="4326128" y="4589653"/>
                  </a:lnTo>
                  <a:lnTo>
                    <a:pt x="0" y="458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776" r="0" b="-33776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7542" y="2575101"/>
            <a:ext cx="2768377" cy="2937011"/>
            <a:chOff x="0" y="0"/>
            <a:chExt cx="4326141" cy="45896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26128" cy="4589653"/>
            </a:xfrm>
            <a:custGeom>
              <a:avLst/>
              <a:gdLst/>
              <a:ahLst/>
              <a:cxnLst/>
              <a:rect r="r" b="b" t="t" l="l"/>
              <a:pathLst>
                <a:path h="4589653" w="4326128">
                  <a:moveTo>
                    <a:pt x="0" y="0"/>
                  </a:moveTo>
                  <a:lnTo>
                    <a:pt x="4326128" y="0"/>
                  </a:lnTo>
                  <a:lnTo>
                    <a:pt x="4326128" y="4589653"/>
                  </a:lnTo>
                  <a:lnTo>
                    <a:pt x="0" y="458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4175" r="0" b="-14175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47890" y="987923"/>
            <a:ext cx="13980765" cy="631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4500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Nuestro </a:t>
            </a:r>
            <a:r>
              <a:rPr lang="en-US" sz="4500" b="true">
                <a:solidFill>
                  <a:srgbClr val="2589C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Equipo</a:t>
            </a:r>
            <a:r>
              <a:rPr lang="en-US" sz="4500" b="true">
                <a:solidFill>
                  <a:srgbClr val="2E3C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La Fuerza Detrás de NuryBase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1095" y="5843664"/>
            <a:ext cx="2751463" cy="682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1"/>
              </a:lnSpc>
            </a:pPr>
            <a:r>
              <a:rPr lang="en-US" sz="216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Product Owner &amp; </a:t>
            </a:r>
          </a:p>
          <a:p>
            <a:pPr algn="l">
              <a:lnSpc>
                <a:spcPts val="2711"/>
              </a:lnSpc>
            </a:pPr>
            <a:r>
              <a:rPr lang="en-US" sz="216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Development Team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2554" y="7423285"/>
            <a:ext cx="3168545" cy="968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7"/>
              </a:lnSpc>
            </a:pPr>
            <a:r>
              <a:rPr lang="en-US" sz="1626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Responsable de la visión del proyecto y enlace directo con Manuel Santana (cliente).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256881" y="5843664"/>
            <a:ext cx="3168545" cy="682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1"/>
              </a:lnSpc>
            </a:pPr>
            <a:r>
              <a:rPr lang="en-US" sz="216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Scrum Master &amp; Development Team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256881" y="7399595"/>
            <a:ext cx="3168545" cy="1299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626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Responsable de la coordinación del equipo, la base de datos y la integración con el SII.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09748" y="5843664"/>
            <a:ext cx="2751463" cy="344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1"/>
              </a:lnSpc>
            </a:pPr>
            <a:r>
              <a:rPr lang="en-US" sz="216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Development Team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001207" y="7060762"/>
            <a:ext cx="3168545" cy="968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7"/>
              </a:lnSpc>
            </a:pPr>
            <a:r>
              <a:rPr lang="en-US" sz="1626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Responsable del desarrollo del punto de venta y el panel de administración.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54075" y="5843664"/>
            <a:ext cx="2751463" cy="344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1"/>
              </a:lnSpc>
            </a:pPr>
            <a:r>
              <a:rPr lang="en-US" sz="216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Development Team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745534" y="7060762"/>
            <a:ext cx="3168545" cy="1081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626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Responsable del backend, la lógica de inventario y los reportes con IA.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7885" y="9710650"/>
            <a:ext cx="16392230" cy="353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187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Un equipo </a:t>
            </a:r>
            <a:r>
              <a:rPr lang="en-US" sz="187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colaborativo</a:t>
            </a:r>
            <a:r>
              <a:rPr lang="en-US" sz="187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, comprometido con </a:t>
            </a:r>
            <a:r>
              <a:rPr lang="en-US" sz="1875">
                <a:solidFill>
                  <a:srgbClr val="2589C9"/>
                </a:solidFill>
                <a:latin typeface="Montserrat"/>
                <a:ea typeface="Montserrat"/>
                <a:cs typeface="Montserrat"/>
                <a:sym typeface="Montserrat"/>
              </a:rPr>
              <a:t>digitalizar la operación de Nury's</a:t>
            </a:r>
            <a:r>
              <a:rPr lang="en-US" sz="187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47206" y="6814858"/>
            <a:ext cx="2499242" cy="367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8"/>
              </a:lnSpc>
            </a:pPr>
            <a:r>
              <a:rPr lang="en-US" sz="2342" b="true">
                <a:solidFill>
                  <a:srgbClr val="2E3C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Maher Darwish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687299" y="6814858"/>
            <a:ext cx="2307709" cy="344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1"/>
              </a:lnSpc>
            </a:pPr>
            <a:r>
              <a:rPr lang="en-US" sz="2169" b="true">
                <a:solidFill>
                  <a:srgbClr val="2E3C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Nelson Alfaro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322273" y="6476025"/>
            <a:ext cx="2526415" cy="344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1"/>
              </a:lnSpc>
            </a:pPr>
            <a:r>
              <a:rPr lang="en-US" sz="2169" b="true">
                <a:solidFill>
                  <a:srgbClr val="2E3C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Patricio Menares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770125" y="6476025"/>
            <a:ext cx="3119362" cy="344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1"/>
              </a:lnSpc>
            </a:pPr>
            <a:r>
              <a:rPr lang="en-US" sz="2169" b="true">
                <a:solidFill>
                  <a:srgbClr val="2E3C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Sebastián Sepúlveda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373600" y="9163050"/>
            <a:ext cx="76200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 strike="noStrike" u="none">
                <a:solidFill>
                  <a:srgbClr val="2E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016238" y="6476025"/>
            <a:ext cx="3119362" cy="344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1"/>
              </a:lnSpc>
            </a:pPr>
            <a:r>
              <a:rPr lang="en-US" sz="2169" b="true">
                <a:solidFill>
                  <a:srgbClr val="2E3C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Manuel Santana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667518" y="5850550"/>
            <a:ext cx="1672597" cy="344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1"/>
              </a:lnSpc>
            </a:pPr>
            <a:r>
              <a:rPr lang="en-US" sz="2169">
                <a:solidFill>
                  <a:srgbClr val="2E3C4E"/>
                </a:solidFill>
                <a:latin typeface="Montserrat"/>
                <a:ea typeface="Montserrat"/>
                <a:cs typeface="Montserrat"/>
                <a:sym typeface="Montserrat"/>
              </a:rPr>
              <a:t>Stakeholder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119455" y="6972197"/>
            <a:ext cx="3168545" cy="968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626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Socio de Nury, stakeholder encargado de las revisiones de producto.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3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890" y="1518942"/>
            <a:ext cx="5701608" cy="836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4"/>
              </a:lnSpc>
            </a:pPr>
            <a:r>
              <a:rPr lang="en-US" b="true" sz="4500">
                <a:solidFill>
                  <a:srgbClr val="2589C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Evidencias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37713" y="2968537"/>
            <a:ext cx="5547360" cy="6181747"/>
            <a:chOff x="0" y="0"/>
            <a:chExt cx="7396480" cy="82423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396480" cy="8242328"/>
            </a:xfrm>
            <a:custGeom>
              <a:avLst/>
              <a:gdLst/>
              <a:ahLst/>
              <a:cxnLst/>
              <a:rect r="r" b="b" t="t" l="l"/>
              <a:pathLst>
                <a:path h="8242328" w="7396480">
                  <a:moveTo>
                    <a:pt x="0" y="370984"/>
                  </a:moveTo>
                  <a:cubicBezTo>
                    <a:pt x="0" y="166057"/>
                    <a:pt x="85725" y="0"/>
                    <a:pt x="191516" y="0"/>
                  </a:cubicBezTo>
                  <a:lnTo>
                    <a:pt x="7204964" y="0"/>
                  </a:lnTo>
                  <a:cubicBezTo>
                    <a:pt x="7310755" y="0"/>
                    <a:pt x="7396480" y="166057"/>
                    <a:pt x="7396480" y="370984"/>
                  </a:cubicBezTo>
                  <a:lnTo>
                    <a:pt x="7396480" y="7871345"/>
                  </a:lnTo>
                  <a:cubicBezTo>
                    <a:pt x="7396480" y="8076271"/>
                    <a:pt x="7310755" y="8242328"/>
                    <a:pt x="7204964" y="8242328"/>
                  </a:cubicBezTo>
                  <a:lnTo>
                    <a:pt x="191516" y="8242328"/>
                  </a:lnTo>
                  <a:cubicBezTo>
                    <a:pt x="85725" y="8242329"/>
                    <a:pt x="0" y="8076272"/>
                    <a:pt x="0" y="7871345"/>
                  </a:cubicBezTo>
                  <a:close/>
                </a:path>
              </a:pathLst>
            </a:custGeom>
            <a:solidFill>
              <a:srgbClr val="3B4C6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13232" y="3248349"/>
            <a:ext cx="384048" cy="384048"/>
            <a:chOff x="0" y="0"/>
            <a:chExt cx="512064" cy="5120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2589C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12064" cy="531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23"/>
                </a:lnSpc>
              </a:pPr>
              <a:r>
                <a:rPr lang="en-US" b="true" sz="126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61872" y="3006033"/>
            <a:ext cx="4486656" cy="868680"/>
            <a:chOff x="0" y="0"/>
            <a:chExt cx="5982208" cy="1158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82208" cy="1158240"/>
            </a:xfrm>
            <a:custGeom>
              <a:avLst/>
              <a:gdLst/>
              <a:ahLst/>
              <a:cxnLst/>
              <a:rect r="r" b="b" t="t" l="l"/>
              <a:pathLst>
                <a:path h="1158240" w="5982208">
                  <a:moveTo>
                    <a:pt x="0" y="0"/>
                  </a:moveTo>
                  <a:lnTo>
                    <a:pt x="5982208" y="0"/>
                  </a:lnTo>
                  <a:lnTo>
                    <a:pt x="5982208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38" r="0" b="-5063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5982208" cy="1158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b="true" sz="2299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Planificación y Gestión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9150" y="4800600"/>
            <a:ext cx="292608" cy="292608"/>
            <a:chOff x="0" y="0"/>
            <a:chExt cx="390144" cy="3901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cubicBezTo>
                    <a:pt x="302768" y="0"/>
                    <a:pt x="390144" y="87376"/>
                    <a:pt x="390144" y="195072"/>
                  </a:cubicBezTo>
                  <a:cubicBezTo>
                    <a:pt x="390144" y="302768"/>
                    <a:pt x="302768" y="390144"/>
                    <a:pt x="195072" y="390144"/>
                  </a:cubicBezTo>
                  <a:cubicBezTo>
                    <a:pt x="87376" y="390144"/>
                    <a:pt x="0" y="302768"/>
                    <a:pt x="0" y="195072"/>
                  </a:cubicBezTo>
                  <a:close/>
                </a:path>
              </a:pathLst>
            </a:custGeom>
            <a:solidFill>
              <a:srgbClr val="2589C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390144" cy="399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60"/>
                </a:lnSpc>
              </a:pPr>
              <a:r>
                <a:rPr lang="en-US" b="true" sz="966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07008" y="4713732"/>
            <a:ext cx="4596384" cy="569126"/>
            <a:chOff x="0" y="0"/>
            <a:chExt cx="6128512" cy="7588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28512" cy="758835"/>
            </a:xfrm>
            <a:custGeom>
              <a:avLst/>
              <a:gdLst/>
              <a:ahLst/>
              <a:cxnLst/>
              <a:rect r="r" b="b" t="t" l="l"/>
              <a:pathLst>
                <a:path h="758835" w="6128512">
                  <a:moveTo>
                    <a:pt x="0" y="0"/>
                  </a:moveTo>
                  <a:lnTo>
                    <a:pt x="6128512" y="0"/>
                  </a:lnTo>
                  <a:lnTo>
                    <a:pt x="6128512" y="758835"/>
                  </a:lnTo>
                  <a:lnTo>
                    <a:pt x="0" y="7588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558" r="0" b="-10717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6128512" cy="815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49">
                  <a:solidFill>
                    <a:srgbClr val="D7E3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Product Backlog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9150" y="6078158"/>
            <a:ext cx="292608" cy="292608"/>
            <a:chOff x="0" y="0"/>
            <a:chExt cx="390144" cy="3901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cubicBezTo>
                    <a:pt x="302768" y="0"/>
                    <a:pt x="390144" y="87376"/>
                    <a:pt x="390144" y="195072"/>
                  </a:cubicBezTo>
                  <a:cubicBezTo>
                    <a:pt x="390144" y="302768"/>
                    <a:pt x="302768" y="390144"/>
                    <a:pt x="195072" y="390144"/>
                  </a:cubicBezTo>
                  <a:cubicBezTo>
                    <a:pt x="87376" y="390144"/>
                    <a:pt x="0" y="302768"/>
                    <a:pt x="0" y="195072"/>
                  </a:cubicBezTo>
                  <a:close/>
                </a:path>
              </a:pathLst>
            </a:custGeom>
            <a:solidFill>
              <a:srgbClr val="2589C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390144" cy="399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60"/>
                </a:lnSpc>
              </a:pPr>
              <a:r>
                <a:rPr lang="en-US" b="true" sz="966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07008" y="6039174"/>
            <a:ext cx="4596384" cy="569128"/>
            <a:chOff x="0" y="0"/>
            <a:chExt cx="6128512" cy="75883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128512" cy="758837"/>
            </a:xfrm>
            <a:custGeom>
              <a:avLst/>
              <a:gdLst/>
              <a:ahLst/>
              <a:cxnLst/>
              <a:rect r="r" b="b" t="t" l="l"/>
              <a:pathLst>
                <a:path h="758837" w="6128512">
                  <a:moveTo>
                    <a:pt x="0" y="0"/>
                  </a:moveTo>
                  <a:lnTo>
                    <a:pt x="6128512" y="0"/>
                  </a:lnTo>
                  <a:lnTo>
                    <a:pt x="6128512" y="758837"/>
                  </a:lnTo>
                  <a:lnTo>
                    <a:pt x="0" y="758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558" r="0" b="-10717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6128512" cy="8159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D7E3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Carta Gantt del Proyecto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19150" y="7625946"/>
            <a:ext cx="292608" cy="292608"/>
            <a:chOff x="0" y="0"/>
            <a:chExt cx="390144" cy="39014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cubicBezTo>
                    <a:pt x="302768" y="0"/>
                    <a:pt x="390144" y="87376"/>
                    <a:pt x="390144" y="195072"/>
                  </a:cubicBezTo>
                  <a:cubicBezTo>
                    <a:pt x="390144" y="302768"/>
                    <a:pt x="302768" y="390144"/>
                    <a:pt x="195072" y="390144"/>
                  </a:cubicBezTo>
                  <a:cubicBezTo>
                    <a:pt x="87376" y="390144"/>
                    <a:pt x="0" y="302768"/>
                    <a:pt x="0" y="195072"/>
                  </a:cubicBezTo>
                  <a:close/>
                </a:path>
              </a:pathLst>
            </a:custGeom>
            <a:solidFill>
              <a:srgbClr val="2589C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390144" cy="399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60"/>
                </a:lnSpc>
              </a:pPr>
              <a:r>
                <a:rPr lang="en-US" b="true" sz="966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07008" y="7487686"/>
            <a:ext cx="4596384" cy="569128"/>
            <a:chOff x="0" y="0"/>
            <a:chExt cx="6128512" cy="75883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128512" cy="758837"/>
            </a:xfrm>
            <a:custGeom>
              <a:avLst/>
              <a:gdLst/>
              <a:ahLst/>
              <a:cxnLst/>
              <a:rect r="r" b="b" t="t" l="l"/>
              <a:pathLst>
                <a:path h="758837" w="6128512">
                  <a:moveTo>
                    <a:pt x="0" y="0"/>
                  </a:moveTo>
                  <a:lnTo>
                    <a:pt x="6128512" y="0"/>
                  </a:lnTo>
                  <a:lnTo>
                    <a:pt x="6128512" y="758837"/>
                  </a:lnTo>
                  <a:lnTo>
                    <a:pt x="0" y="758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558" r="0" b="-10717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6128512" cy="8159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D7E3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Planilla de Riesgos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370320" y="4121320"/>
            <a:ext cx="5547360" cy="2957883"/>
            <a:chOff x="0" y="0"/>
            <a:chExt cx="7396480" cy="39438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96480" cy="3943843"/>
            </a:xfrm>
            <a:custGeom>
              <a:avLst/>
              <a:gdLst/>
              <a:ahLst/>
              <a:cxnLst/>
              <a:rect r="r" b="b" t="t" l="l"/>
              <a:pathLst>
                <a:path h="3943843" w="7396480">
                  <a:moveTo>
                    <a:pt x="0" y="177496"/>
                  </a:moveTo>
                  <a:cubicBezTo>
                    <a:pt x="0" y="79444"/>
                    <a:pt x="70485" y="0"/>
                    <a:pt x="157480" y="0"/>
                  </a:cubicBezTo>
                  <a:lnTo>
                    <a:pt x="7239000" y="0"/>
                  </a:lnTo>
                  <a:cubicBezTo>
                    <a:pt x="7325995" y="0"/>
                    <a:pt x="7396480" y="79444"/>
                    <a:pt x="7396480" y="177496"/>
                  </a:cubicBezTo>
                  <a:lnTo>
                    <a:pt x="7396480" y="3766348"/>
                  </a:lnTo>
                  <a:cubicBezTo>
                    <a:pt x="7396480" y="3864400"/>
                    <a:pt x="7325995" y="3943843"/>
                    <a:pt x="7239000" y="3943843"/>
                  </a:cubicBezTo>
                  <a:lnTo>
                    <a:pt x="157480" y="3943843"/>
                  </a:lnTo>
                  <a:cubicBezTo>
                    <a:pt x="70485" y="3943843"/>
                    <a:pt x="0" y="3864400"/>
                    <a:pt x="0" y="3766348"/>
                  </a:cubicBezTo>
                  <a:close/>
                </a:path>
              </a:pathLst>
            </a:custGeom>
            <a:solidFill>
              <a:srgbClr val="3B4C63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464046" y="4466844"/>
            <a:ext cx="384048" cy="384048"/>
            <a:chOff x="0" y="0"/>
            <a:chExt cx="512064" cy="5120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2589C9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512064" cy="531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23"/>
                </a:lnSpc>
              </a:pPr>
              <a:r>
                <a:rPr lang="en-US" b="true" sz="126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942106" y="4224528"/>
            <a:ext cx="4486656" cy="868680"/>
            <a:chOff x="0" y="0"/>
            <a:chExt cx="5982208" cy="11582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982208" cy="1158240"/>
            </a:xfrm>
            <a:custGeom>
              <a:avLst/>
              <a:gdLst/>
              <a:ahLst/>
              <a:cxnLst/>
              <a:rect r="r" b="b" t="t" l="l"/>
              <a:pathLst>
                <a:path h="1158240" w="5982208">
                  <a:moveTo>
                    <a:pt x="0" y="0"/>
                  </a:moveTo>
                  <a:lnTo>
                    <a:pt x="5982208" y="0"/>
                  </a:lnTo>
                  <a:lnTo>
                    <a:pt x="5982208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38" r="0" b="-5063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5982208" cy="1158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b="true" sz="2299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Diseño Técnico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649498" y="5600262"/>
            <a:ext cx="292608" cy="292608"/>
            <a:chOff x="0" y="0"/>
            <a:chExt cx="390144" cy="39014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cubicBezTo>
                    <a:pt x="302768" y="0"/>
                    <a:pt x="390144" y="87376"/>
                    <a:pt x="390144" y="195072"/>
                  </a:cubicBezTo>
                  <a:cubicBezTo>
                    <a:pt x="390144" y="302768"/>
                    <a:pt x="302768" y="390144"/>
                    <a:pt x="195072" y="390144"/>
                  </a:cubicBezTo>
                  <a:cubicBezTo>
                    <a:pt x="87376" y="390144"/>
                    <a:pt x="0" y="302768"/>
                    <a:pt x="0" y="195072"/>
                  </a:cubicBezTo>
                  <a:close/>
                </a:path>
              </a:pathLst>
            </a:custGeom>
            <a:solidFill>
              <a:srgbClr val="2589C9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390144" cy="399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60"/>
                </a:lnSpc>
              </a:pPr>
              <a:r>
                <a:rPr lang="en-US" b="true" sz="966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120128" y="5463102"/>
            <a:ext cx="4596384" cy="569128"/>
            <a:chOff x="0" y="0"/>
            <a:chExt cx="6128512" cy="75883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128512" cy="758837"/>
            </a:xfrm>
            <a:custGeom>
              <a:avLst/>
              <a:gdLst/>
              <a:ahLst/>
              <a:cxnLst/>
              <a:rect r="r" b="b" t="t" l="l"/>
              <a:pathLst>
                <a:path h="758837" w="6128512">
                  <a:moveTo>
                    <a:pt x="0" y="0"/>
                  </a:moveTo>
                  <a:lnTo>
                    <a:pt x="6128512" y="0"/>
                  </a:lnTo>
                  <a:lnTo>
                    <a:pt x="6128512" y="758837"/>
                  </a:lnTo>
                  <a:lnTo>
                    <a:pt x="0" y="758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558" r="0" b="-10717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6128512" cy="8159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D7E3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Arquitectura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626352" y="6313494"/>
            <a:ext cx="292608" cy="292608"/>
            <a:chOff x="0" y="0"/>
            <a:chExt cx="390144" cy="3901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cubicBezTo>
                    <a:pt x="302768" y="0"/>
                    <a:pt x="390144" y="87376"/>
                    <a:pt x="390144" y="195072"/>
                  </a:cubicBezTo>
                  <a:cubicBezTo>
                    <a:pt x="390144" y="302768"/>
                    <a:pt x="302768" y="390144"/>
                    <a:pt x="195072" y="390144"/>
                  </a:cubicBezTo>
                  <a:cubicBezTo>
                    <a:pt x="87376" y="390144"/>
                    <a:pt x="0" y="302768"/>
                    <a:pt x="0" y="195072"/>
                  </a:cubicBezTo>
                  <a:close/>
                </a:path>
              </a:pathLst>
            </a:custGeom>
            <a:solidFill>
              <a:srgbClr val="2589C9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390144" cy="399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60"/>
                </a:lnSpc>
              </a:pPr>
              <a:r>
                <a:rPr lang="en-US" b="true" sz="966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065264" y="6176334"/>
            <a:ext cx="4596384" cy="569128"/>
            <a:chOff x="0" y="0"/>
            <a:chExt cx="6128512" cy="75883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128512" cy="758837"/>
            </a:xfrm>
            <a:custGeom>
              <a:avLst/>
              <a:gdLst/>
              <a:ahLst/>
              <a:cxnLst/>
              <a:rect r="r" b="b" t="t" l="l"/>
              <a:pathLst>
                <a:path h="758837" w="6128512">
                  <a:moveTo>
                    <a:pt x="0" y="0"/>
                  </a:moveTo>
                  <a:lnTo>
                    <a:pt x="6128512" y="0"/>
                  </a:lnTo>
                  <a:lnTo>
                    <a:pt x="6128512" y="758837"/>
                  </a:lnTo>
                  <a:lnTo>
                    <a:pt x="0" y="758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558" r="0" b="-10717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6128512" cy="8159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D7E3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Modelo de Base de Datos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283440" y="3006033"/>
            <a:ext cx="5547360" cy="6144250"/>
            <a:chOff x="0" y="0"/>
            <a:chExt cx="7396480" cy="819233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96480" cy="8192333"/>
            </a:xfrm>
            <a:custGeom>
              <a:avLst/>
              <a:gdLst/>
              <a:ahLst/>
              <a:cxnLst/>
              <a:rect r="r" b="b" t="t" l="l"/>
              <a:pathLst>
                <a:path h="8192333" w="7396480">
                  <a:moveTo>
                    <a:pt x="0" y="368733"/>
                  </a:moveTo>
                  <a:cubicBezTo>
                    <a:pt x="0" y="165050"/>
                    <a:pt x="85725" y="0"/>
                    <a:pt x="191516" y="0"/>
                  </a:cubicBezTo>
                  <a:lnTo>
                    <a:pt x="7204964" y="0"/>
                  </a:lnTo>
                  <a:cubicBezTo>
                    <a:pt x="7310755" y="0"/>
                    <a:pt x="7396480" y="165050"/>
                    <a:pt x="7396480" y="368733"/>
                  </a:cubicBezTo>
                  <a:lnTo>
                    <a:pt x="7396480" y="7823601"/>
                  </a:lnTo>
                  <a:cubicBezTo>
                    <a:pt x="7396480" y="8027284"/>
                    <a:pt x="7310755" y="8192333"/>
                    <a:pt x="7204964" y="8192333"/>
                  </a:cubicBezTo>
                  <a:lnTo>
                    <a:pt x="191516" y="8192333"/>
                  </a:lnTo>
                  <a:cubicBezTo>
                    <a:pt x="85725" y="8192334"/>
                    <a:pt x="0" y="8027284"/>
                    <a:pt x="0" y="7823601"/>
                  </a:cubicBezTo>
                  <a:close/>
                </a:path>
              </a:pathLst>
            </a:custGeom>
            <a:solidFill>
              <a:srgbClr val="3B4C63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539472" y="3248349"/>
            <a:ext cx="384048" cy="384048"/>
            <a:chOff x="0" y="0"/>
            <a:chExt cx="512064" cy="51206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2589C9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512064" cy="531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23"/>
                </a:lnSpc>
              </a:pPr>
              <a:r>
                <a:rPr lang="en-US" b="true" sz="126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088112" y="3006033"/>
            <a:ext cx="4486656" cy="868680"/>
            <a:chOff x="0" y="0"/>
            <a:chExt cx="5982208" cy="11582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982208" cy="1158240"/>
            </a:xfrm>
            <a:custGeom>
              <a:avLst/>
              <a:gdLst/>
              <a:ahLst/>
              <a:cxnLst/>
              <a:rect r="r" b="b" t="t" l="l"/>
              <a:pathLst>
                <a:path h="1158240" w="5982208">
                  <a:moveTo>
                    <a:pt x="0" y="0"/>
                  </a:moveTo>
                  <a:lnTo>
                    <a:pt x="5982208" y="0"/>
                  </a:lnTo>
                  <a:lnTo>
                    <a:pt x="5982208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38" r="0" b="-5063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5982208" cy="1158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b="true" sz="2299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Documentación y Pruebas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585192" y="4704588"/>
            <a:ext cx="292608" cy="292608"/>
            <a:chOff x="0" y="0"/>
            <a:chExt cx="390144" cy="39014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cubicBezTo>
                    <a:pt x="302768" y="0"/>
                    <a:pt x="390144" y="87376"/>
                    <a:pt x="390144" y="195072"/>
                  </a:cubicBezTo>
                  <a:cubicBezTo>
                    <a:pt x="390144" y="302768"/>
                    <a:pt x="302768" y="390144"/>
                    <a:pt x="195072" y="390144"/>
                  </a:cubicBezTo>
                  <a:cubicBezTo>
                    <a:pt x="87376" y="390144"/>
                    <a:pt x="0" y="302768"/>
                    <a:pt x="0" y="195072"/>
                  </a:cubicBezTo>
                  <a:close/>
                </a:path>
              </a:pathLst>
            </a:custGeom>
            <a:solidFill>
              <a:srgbClr val="2589C9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390144" cy="399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60"/>
                </a:lnSpc>
              </a:pPr>
              <a:r>
                <a:rPr lang="en-US" b="true" sz="966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3020675" y="4567428"/>
            <a:ext cx="4596384" cy="569128"/>
            <a:chOff x="0" y="0"/>
            <a:chExt cx="6128512" cy="75883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128512" cy="758837"/>
            </a:xfrm>
            <a:custGeom>
              <a:avLst/>
              <a:gdLst/>
              <a:ahLst/>
              <a:cxnLst/>
              <a:rect r="r" b="b" t="t" l="l"/>
              <a:pathLst>
                <a:path h="758837" w="6128512">
                  <a:moveTo>
                    <a:pt x="0" y="0"/>
                  </a:moveTo>
                  <a:lnTo>
                    <a:pt x="6128512" y="0"/>
                  </a:lnTo>
                  <a:lnTo>
                    <a:pt x="6128512" y="758837"/>
                  </a:lnTo>
                  <a:lnTo>
                    <a:pt x="0" y="758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558" r="0" b="-10717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6128512" cy="8159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D7E3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Descripción de Proyecto APT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2585192" y="6030030"/>
            <a:ext cx="292608" cy="292608"/>
            <a:chOff x="0" y="0"/>
            <a:chExt cx="390144" cy="39014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cubicBezTo>
                    <a:pt x="302768" y="0"/>
                    <a:pt x="390144" y="87376"/>
                    <a:pt x="390144" y="195072"/>
                  </a:cubicBezTo>
                  <a:cubicBezTo>
                    <a:pt x="390144" y="302768"/>
                    <a:pt x="302768" y="390144"/>
                    <a:pt x="195072" y="390144"/>
                  </a:cubicBezTo>
                  <a:cubicBezTo>
                    <a:pt x="87376" y="390144"/>
                    <a:pt x="0" y="302768"/>
                    <a:pt x="0" y="195072"/>
                  </a:cubicBezTo>
                  <a:close/>
                </a:path>
              </a:pathLst>
            </a:custGeom>
            <a:solidFill>
              <a:srgbClr val="2589C9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390144" cy="399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60"/>
                </a:lnSpc>
              </a:pPr>
              <a:r>
                <a:rPr lang="en-US" b="true" sz="966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3088112" y="5892870"/>
            <a:ext cx="4596384" cy="569128"/>
            <a:chOff x="0" y="0"/>
            <a:chExt cx="6128512" cy="758837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128512" cy="758837"/>
            </a:xfrm>
            <a:custGeom>
              <a:avLst/>
              <a:gdLst/>
              <a:ahLst/>
              <a:cxnLst/>
              <a:rect r="r" b="b" t="t" l="l"/>
              <a:pathLst>
                <a:path h="758837" w="6128512">
                  <a:moveTo>
                    <a:pt x="0" y="0"/>
                  </a:moveTo>
                  <a:lnTo>
                    <a:pt x="6128512" y="0"/>
                  </a:lnTo>
                  <a:lnTo>
                    <a:pt x="6128512" y="758837"/>
                  </a:lnTo>
                  <a:lnTo>
                    <a:pt x="0" y="758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558" r="0" b="-107171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57150"/>
              <a:ext cx="6128512" cy="8159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D7E3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 de Pruebas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585192" y="7624846"/>
            <a:ext cx="292608" cy="292608"/>
            <a:chOff x="0" y="0"/>
            <a:chExt cx="390144" cy="39014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cubicBezTo>
                    <a:pt x="302768" y="0"/>
                    <a:pt x="390144" y="87376"/>
                    <a:pt x="390144" y="195072"/>
                  </a:cubicBezTo>
                  <a:cubicBezTo>
                    <a:pt x="390144" y="302768"/>
                    <a:pt x="302768" y="390144"/>
                    <a:pt x="195072" y="390144"/>
                  </a:cubicBezTo>
                  <a:cubicBezTo>
                    <a:pt x="87376" y="390144"/>
                    <a:pt x="0" y="302768"/>
                    <a:pt x="0" y="195072"/>
                  </a:cubicBezTo>
                  <a:close/>
                </a:path>
              </a:pathLst>
            </a:custGeom>
            <a:solidFill>
              <a:srgbClr val="2589C9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390144" cy="399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60"/>
                </a:lnSpc>
              </a:pPr>
              <a:r>
                <a:rPr lang="en-US" b="true" sz="966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3088112" y="7487686"/>
            <a:ext cx="4596384" cy="569128"/>
            <a:chOff x="0" y="0"/>
            <a:chExt cx="6128512" cy="758837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128512" cy="758837"/>
            </a:xfrm>
            <a:custGeom>
              <a:avLst/>
              <a:gdLst/>
              <a:ahLst/>
              <a:cxnLst/>
              <a:rect r="r" b="b" t="t" l="l"/>
              <a:pathLst>
                <a:path h="758837" w="6128512">
                  <a:moveTo>
                    <a:pt x="0" y="0"/>
                  </a:moveTo>
                  <a:lnTo>
                    <a:pt x="6128512" y="0"/>
                  </a:lnTo>
                  <a:lnTo>
                    <a:pt x="6128512" y="758837"/>
                  </a:lnTo>
                  <a:lnTo>
                    <a:pt x="0" y="758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558" r="0" b="-107171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57150"/>
              <a:ext cx="6128512" cy="8159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D7E3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Plantilla de Plan de Pruebas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7373600" y="9163050"/>
            <a:ext cx="76200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 strike="noStrike" u="none">
                <a:solidFill>
                  <a:srgbClr val="F9F7F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3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890" y="1458220"/>
            <a:ext cx="5701608" cy="836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4"/>
              </a:lnSpc>
            </a:pPr>
            <a:r>
              <a:rPr lang="en-US" b="true" sz="4500">
                <a:solidFill>
                  <a:srgbClr val="2589C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Evidencias</a:t>
            </a:r>
            <a:r>
              <a:rPr lang="en-US" b="true" sz="4500">
                <a:solidFill>
                  <a:srgbClr val="F4FB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por Sprint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57200" y="3499999"/>
            <a:ext cx="5547360" cy="5758301"/>
            <a:chOff x="0" y="0"/>
            <a:chExt cx="7396480" cy="76777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396480" cy="7677734"/>
            </a:xfrm>
            <a:custGeom>
              <a:avLst/>
              <a:gdLst/>
              <a:ahLst/>
              <a:cxnLst/>
              <a:rect r="r" b="b" t="t" l="l"/>
              <a:pathLst>
                <a:path h="7677734" w="7396480">
                  <a:moveTo>
                    <a:pt x="0" y="345543"/>
                  </a:moveTo>
                  <a:cubicBezTo>
                    <a:pt x="0" y="154658"/>
                    <a:pt x="70485" y="0"/>
                    <a:pt x="157480" y="0"/>
                  </a:cubicBezTo>
                  <a:lnTo>
                    <a:pt x="7239000" y="0"/>
                  </a:lnTo>
                  <a:cubicBezTo>
                    <a:pt x="7325995" y="0"/>
                    <a:pt x="7396480" y="154658"/>
                    <a:pt x="7396480" y="345543"/>
                  </a:cubicBezTo>
                  <a:lnTo>
                    <a:pt x="7396480" y="7332191"/>
                  </a:lnTo>
                  <a:cubicBezTo>
                    <a:pt x="7396480" y="7523076"/>
                    <a:pt x="7325995" y="7677734"/>
                    <a:pt x="7239000" y="7677734"/>
                  </a:cubicBezTo>
                  <a:lnTo>
                    <a:pt x="157480" y="7677734"/>
                  </a:lnTo>
                  <a:cubicBezTo>
                    <a:pt x="70485" y="7677734"/>
                    <a:pt x="0" y="7523076"/>
                    <a:pt x="0" y="7332191"/>
                  </a:cubicBezTo>
                  <a:close/>
                </a:path>
              </a:pathLst>
            </a:custGeom>
            <a:solidFill>
              <a:srgbClr val="3B4C6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13232" y="3998347"/>
            <a:ext cx="384048" cy="384048"/>
            <a:chOff x="0" y="0"/>
            <a:chExt cx="512064" cy="5120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2589C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12064" cy="531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23"/>
                </a:lnSpc>
              </a:pPr>
              <a:r>
                <a:rPr lang="en-US" b="true" sz="126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7008" y="3756031"/>
            <a:ext cx="4486656" cy="868680"/>
            <a:chOff x="0" y="0"/>
            <a:chExt cx="5982208" cy="1158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82208" cy="1158240"/>
            </a:xfrm>
            <a:custGeom>
              <a:avLst/>
              <a:gdLst/>
              <a:ahLst/>
              <a:cxnLst/>
              <a:rect r="r" b="b" t="t" l="l"/>
              <a:pathLst>
                <a:path h="1158240" w="5982208">
                  <a:moveTo>
                    <a:pt x="0" y="0"/>
                  </a:moveTo>
                  <a:lnTo>
                    <a:pt x="5982208" y="0"/>
                  </a:lnTo>
                  <a:lnTo>
                    <a:pt x="5982208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38" r="0" b="-5063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5982208" cy="1158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b="true" sz="2299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Ejecució</a:t>
              </a:r>
              <a:r>
                <a:rPr lang="en-US" b="true" sz="2299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 y Revisión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58952" y="6595975"/>
            <a:ext cx="292608" cy="292608"/>
            <a:chOff x="0" y="0"/>
            <a:chExt cx="390144" cy="3901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cubicBezTo>
                    <a:pt x="302768" y="0"/>
                    <a:pt x="390144" y="87376"/>
                    <a:pt x="390144" y="195072"/>
                  </a:cubicBezTo>
                  <a:cubicBezTo>
                    <a:pt x="390144" y="302768"/>
                    <a:pt x="302768" y="390144"/>
                    <a:pt x="195072" y="390144"/>
                  </a:cubicBezTo>
                  <a:cubicBezTo>
                    <a:pt x="87376" y="390144"/>
                    <a:pt x="0" y="302768"/>
                    <a:pt x="0" y="195072"/>
                  </a:cubicBezTo>
                  <a:close/>
                </a:path>
              </a:pathLst>
            </a:custGeom>
            <a:solidFill>
              <a:srgbClr val="2589C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390144" cy="399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60"/>
                </a:lnSpc>
              </a:pPr>
              <a:r>
                <a:rPr lang="en-US" b="true" sz="966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52144" y="5721991"/>
            <a:ext cx="4596384" cy="566928"/>
            <a:chOff x="0" y="0"/>
            <a:chExt cx="6128512" cy="75590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28512" cy="755904"/>
            </a:xfrm>
            <a:custGeom>
              <a:avLst/>
              <a:gdLst/>
              <a:ahLst/>
              <a:cxnLst/>
              <a:rect r="r" b="b" t="t" l="l"/>
              <a:pathLst>
                <a:path h="755904" w="6128512">
                  <a:moveTo>
                    <a:pt x="0" y="0"/>
                  </a:moveTo>
                  <a:lnTo>
                    <a:pt x="6128512" y="0"/>
                  </a:lnTo>
                  <a:lnTo>
                    <a:pt x="6128512" y="755904"/>
                  </a:lnTo>
                  <a:lnTo>
                    <a:pt x="0" y="7559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975" r="0" b="-10797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6128512" cy="8035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58952" y="8194753"/>
            <a:ext cx="292608" cy="292608"/>
            <a:chOff x="0" y="0"/>
            <a:chExt cx="390144" cy="3901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cubicBezTo>
                    <a:pt x="302768" y="0"/>
                    <a:pt x="390144" y="87376"/>
                    <a:pt x="390144" y="195072"/>
                  </a:cubicBezTo>
                  <a:cubicBezTo>
                    <a:pt x="390144" y="302768"/>
                    <a:pt x="302768" y="390144"/>
                    <a:pt x="195072" y="390144"/>
                  </a:cubicBezTo>
                  <a:cubicBezTo>
                    <a:pt x="87376" y="390144"/>
                    <a:pt x="0" y="302768"/>
                    <a:pt x="0" y="195072"/>
                  </a:cubicBezTo>
                  <a:close/>
                </a:path>
              </a:pathLst>
            </a:custGeom>
            <a:solidFill>
              <a:srgbClr val="2589C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390144" cy="399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60"/>
                </a:lnSpc>
              </a:pPr>
              <a:r>
                <a:rPr lang="en-US" b="true" sz="966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52144" y="7245186"/>
            <a:ext cx="4596384" cy="566928"/>
            <a:chOff x="0" y="0"/>
            <a:chExt cx="6128512" cy="75590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128512" cy="755904"/>
            </a:xfrm>
            <a:custGeom>
              <a:avLst/>
              <a:gdLst/>
              <a:ahLst/>
              <a:cxnLst/>
              <a:rect r="r" b="b" t="t" l="l"/>
              <a:pathLst>
                <a:path h="755904" w="6128512">
                  <a:moveTo>
                    <a:pt x="0" y="0"/>
                  </a:moveTo>
                  <a:lnTo>
                    <a:pt x="6128512" y="0"/>
                  </a:lnTo>
                  <a:lnTo>
                    <a:pt x="6128512" y="755904"/>
                  </a:lnTo>
                  <a:lnTo>
                    <a:pt x="0" y="7559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975" r="0" b="-10797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6128512" cy="8035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370320" y="4382395"/>
            <a:ext cx="5547360" cy="3812358"/>
            <a:chOff x="0" y="0"/>
            <a:chExt cx="7396480" cy="508314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96480" cy="5083144"/>
            </a:xfrm>
            <a:custGeom>
              <a:avLst/>
              <a:gdLst/>
              <a:ahLst/>
              <a:cxnLst/>
              <a:rect r="r" b="b" t="t" l="l"/>
              <a:pathLst>
                <a:path h="5083144" w="7396480">
                  <a:moveTo>
                    <a:pt x="0" y="228790"/>
                  </a:moveTo>
                  <a:cubicBezTo>
                    <a:pt x="0" y="102409"/>
                    <a:pt x="85725" y="0"/>
                    <a:pt x="191516" y="0"/>
                  </a:cubicBezTo>
                  <a:lnTo>
                    <a:pt x="7204964" y="0"/>
                  </a:lnTo>
                  <a:cubicBezTo>
                    <a:pt x="7310755" y="0"/>
                    <a:pt x="7396480" y="102409"/>
                    <a:pt x="7396480" y="228790"/>
                  </a:cubicBezTo>
                  <a:lnTo>
                    <a:pt x="7396480" y="4854354"/>
                  </a:lnTo>
                  <a:cubicBezTo>
                    <a:pt x="7396480" y="4980734"/>
                    <a:pt x="7310755" y="5083144"/>
                    <a:pt x="7204964" y="5083144"/>
                  </a:cubicBezTo>
                  <a:lnTo>
                    <a:pt x="191516" y="5083144"/>
                  </a:lnTo>
                  <a:cubicBezTo>
                    <a:pt x="85725" y="5083144"/>
                    <a:pt x="0" y="4980735"/>
                    <a:pt x="0" y="4854354"/>
                  </a:cubicBezTo>
                  <a:close/>
                </a:path>
              </a:pathLst>
            </a:custGeom>
            <a:solidFill>
              <a:srgbClr val="3B4C63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558058" y="4504732"/>
            <a:ext cx="384048" cy="384048"/>
            <a:chOff x="0" y="0"/>
            <a:chExt cx="512064" cy="5120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2589C9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512064" cy="531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23"/>
                </a:lnSpc>
              </a:pPr>
              <a:r>
                <a:rPr lang="en-US" b="true" sz="126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019544" y="4274820"/>
            <a:ext cx="4486656" cy="868680"/>
            <a:chOff x="0" y="0"/>
            <a:chExt cx="5982208" cy="11582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982208" cy="1158240"/>
            </a:xfrm>
            <a:custGeom>
              <a:avLst/>
              <a:gdLst/>
              <a:ahLst/>
              <a:cxnLst/>
              <a:rect r="r" b="b" t="t" l="l"/>
              <a:pathLst>
                <a:path h="1158240" w="5982208">
                  <a:moveTo>
                    <a:pt x="0" y="0"/>
                  </a:moveTo>
                  <a:lnTo>
                    <a:pt x="5982208" y="0"/>
                  </a:lnTo>
                  <a:lnTo>
                    <a:pt x="5982208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38" r="0" b="-5063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5982208" cy="1158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b="true" sz="2299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Planificación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58952" y="5155063"/>
            <a:ext cx="292608" cy="292608"/>
            <a:chOff x="0" y="0"/>
            <a:chExt cx="390144" cy="39014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cubicBezTo>
                    <a:pt x="302768" y="0"/>
                    <a:pt x="390144" y="87376"/>
                    <a:pt x="390144" y="195072"/>
                  </a:cubicBezTo>
                  <a:cubicBezTo>
                    <a:pt x="390144" y="302768"/>
                    <a:pt x="302768" y="390144"/>
                    <a:pt x="195072" y="390144"/>
                  </a:cubicBezTo>
                  <a:cubicBezTo>
                    <a:pt x="87376" y="390144"/>
                    <a:pt x="0" y="302768"/>
                    <a:pt x="0" y="195072"/>
                  </a:cubicBezTo>
                  <a:close/>
                </a:path>
              </a:pathLst>
            </a:custGeom>
            <a:solidFill>
              <a:srgbClr val="2589C9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390144" cy="399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60"/>
                </a:lnSpc>
              </a:pPr>
              <a:r>
                <a:rPr lang="en-US" b="true" sz="966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52144" y="5017903"/>
            <a:ext cx="4596384" cy="569128"/>
            <a:chOff x="0" y="0"/>
            <a:chExt cx="6128512" cy="75883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128512" cy="758837"/>
            </a:xfrm>
            <a:custGeom>
              <a:avLst/>
              <a:gdLst/>
              <a:ahLst/>
              <a:cxnLst/>
              <a:rect r="r" b="b" t="t" l="l"/>
              <a:pathLst>
                <a:path h="758837" w="6128512">
                  <a:moveTo>
                    <a:pt x="0" y="0"/>
                  </a:moveTo>
                  <a:lnTo>
                    <a:pt x="6128512" y="0"/>
                  </a:lnTo>
                  <a:lnTo>
                    <a:pt x="6128512" y="758837"/>
                  </a:lnTo>
                  <a:lnTo>
                    <a:pt x="0" y="758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558" r="0" b="-10717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6128512" cy="8159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D7E3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Daily Meetings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525768" y="5859151"/>
            <a:ext cx="292608" cy="292608"/>
            <a:chOff x="0" y="0"/>
            <a:chExt cx="390144" cy="39014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cubicBezTo>
                    <a:pt x="302768" y="0"/>
                    <a:pt x="390144" y="87376"/>
                    <a:pt x="390144" y="195072"/>
                  </a:cubicBezTo>
                  <a:cubicBezTo>
                    <a:pt x="390144" y="302768"/>
                    <a:pt x="302768" y="390144"/>
                    <a:pt x="195072" y="390144"/>
                  </a:cubicBezTo>
                  <a:cubicBezTo>
                    <a:pt x="87376" y="390144"/>
                    <a:pt x="0" y="302768"/>
                    <a:pt x="0" y="195072"/>
                  </a:cubicBezTo>
                  <a:close/>
                </a:path>
              </a:pathLst>
            </a:custGeom>
            <a:solidFill>
              <a:srgbClr val="2589C9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390144" cy="399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60"/>
                </a:lnSpc>
              </a:pPr>
              <a:r>
                <a:rPr lang="en-US" b="true" sz="966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54811" y="6458815"/>
            <a:ext cx="4596384" cy="569128"/>
            <a:chOff x="0" y="0"/>
            <a:chExt cx="6128512" cy="75883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128512" cy="758837"/>
            </a:xfrm>
            <a:custGeom>
              <a:avLst/>
              <a:gdLst/>
              <a:ahLst/>
              <a:cxnLst/>
              <a:rect r="r" b="b" t="t" l="l"/>
              <a:pathLst>
                <a:path h="758837" w="6128512">
                  <a:moveTo>
                    <a:pt x="0" y="0"/>
                  </a:moveTo>
                  <a:lnTo>
                    <a:pt x="6128512" y="0"/>
                  </a:lnTo>
                  <a:lnTo>
                    <a:pt x="6128512" y="758837"/>
                  </a:lnTo>
                  <a:lnTo>
                    <a:pt x="0" y="758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558" r="0" b="-10717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6128512" cy="8159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D7E3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Sprint Review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525768" y="6597075"/>
            <a:ext cx="292608" cy="292608"/>
            <a:chOff x="0" y="0"/>
            <a:chExt cx="390144" cy="3901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cubicBezTo>
                    <a:pt x="302768" y="0"/>
                    <a:pt x="390144" y="87376"/>
                    <a:pt x="390144" y="195072"/>
                  </a:cubicBezTo>
                  <a:cubicBezTo>
                    <a:pt x="390144" y="302768"/>
                    <a:pt x="302768" y="390144"/>
                    <a:pt x="195072" y="390144"/>
                  </a:cubicBezTo>
                  <a:cubicBezTo>
                    <a:pt x="87376" y="390144"/>
                    <a:pt x="0" y="302768"/>
                    <a:pt x="0" y="195072"/>
                  </a:cubicBezTo>
                  <a:close/>
                </a:path>
              </a:pathLst>
            </a:custGeom>
            <a:solidFill>
              <a:srgbClr val="2589C9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390144" cy="399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60"/>
                </a:lnSpc>
              </a:pPr>
              <a:r>
                <a:rPr lang="en-US" b="true" sz="966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54811" y="8057593"/>
            <a:ext cx="4596384" cy="569128"/>
            <a:chOff x="0" y="0"/>
            <a:chExt cx="6128512" cy="75883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128512" cy="758837"/>
            </a:xfrm>
            <a:custGeom>
              <a:avLst/>
              <a:gdLst/>
              <a:ahLst/>
              <a:cxnLst/>
              <a:rect r="r" b="b" t="t" l="l"/>
              <a:pathLst>
                <a:path h="758837" w="6128512">
                  <a:moveTo>
                    <a:pt x="0" y="0"/>
                  </a:moveTo>
                  <a:lnTo>
                    <a:pt x="6128512" y="0"/>
                  </a:lnTo>
                  <a:lnTo>
                    <a:pt x="6128512" y="758837"/>
                  </a:lnTo>
                  <a:lnTo>
                    <a:pt x="0" y="758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558" r="0" b="-10717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6128512" cy="8159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D7E3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Incremento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283440" y="3499999"/>
            <a:ext cx="5547360" cy="5758301"/>
            <a:chOff x="0" y="0"/>
            <a:chExt cx="7396480" cy="767773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96480" cy="7677734"/>
            </a:xfrm>
            <a:custGeom>
              <a:avLst/>
              <a:gdLst/>
              <a:ahLst/>
              <a:cxnLst/>
              <a:rect r="r" b="b" t="t" l="l"/>
              <a:pathLst>
                <a:path h="7677734" w="7396480">
                  <a:moveTo>
                    <a:pt x="0" y="345571"/>
                  </a:moveTo>
                  <a:cubicBezTo>
                    <a:pt x="0" y="154682"/>
                    <a:pt x="85725" y="0"/>
                    <a:pt x="191516" y="0"/>
                  </a:cubicBezTo>
                  <a:lnTo>
                    <a:pt x="7204964" y="0"/>
                  </a:lnTo>
                  <a:cubicBezTo>
                    <a:pt x="7310755" y="0"/>
                    <a:pt x="7396480" y="154682"/>
                    <a:pt x="7396480" y="345571"/>
                  </a:cubicBezTo>
                  <a:lnTo>
                    <a:pt x="7396480" y="7332163"/>
                  </a:lnTo>
                  <a:cubicBezTo>
                    <a:pt x="7396480" y="7523052"/>
                    <a:pt x="7310755" y="7677734"/>
                    <a:pt x="7204964" y="7677734"/>
                  </a:cubicBezTo>
                  <a:lnTo>
                    <a:pt x="191516" y="7677734"/>
                  </a:lnTo>
                  <a:cubicBezTo>
                    <a:pt x="85725" y="7677734"/>
                    <a:pt x="0" y="7523052"/>
                    <a:pt x="0" y="7332163"/>
                  </a:cubicBezTo>
                  <a:close/>
                </a:path>
              </a:pathLst>
            </a:custGeom>
            <a:solidFill>
              <a:srgbClr val="3B4C63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539472" y="3998347"/>
            <a:ext cx="384048" cy="384048"/>
            <a:chOff x="0" y="0"/>
            <a:chExt cx="512064" cy="51206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2589C9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512064" cy="531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23"/>
                </a:lnSpc>
              </a:pPr>
              <a:r>
                <a:rPr lang="en-US" b="true" sz="126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088112" y="3756031"/>
            <a:ext cx="4486656" cy="868680"/>
            <a:chOff x="0" y="0"/>
            <a:chExt cx="5982208" cy="11582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982208" cy="1158240"/>
            </a:xfrm>
            <a:custGeom>
              <a:avLst/>
              <a:gdLst/>
              <a:ahLst/>
              <a:cxnLst/>
              <a:rect r="r" b="b" t="t" l="l"/>
              <a:pathLst>
                <a:path h="1158240" w="5982208">
                  <a:moveTo>
                    <a:pt x="0" y="0"/>
                  </a:moveTo>
                  <a:lnTo>
                    <a:pt x="5982208" y="0"/>
                  </a:lnTo>
                  <a:lnTo>
                    <a:pt x="5982208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38" r="0" b="-5063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5982208" cy="1158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b="true" sz="2299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Mejora Continua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539472" y="5301367"/>
            <a:ext cx="292608" cy="292608"/>
            <a:chOff x="0" y="0"/>
            <a:chExt cx="390144" cy="39014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cubicBezTo>
                    <a:pt x="302768" y="0"/>
                    <a:pt x="390144" y="87376"/>
                    <a:pt x="390144" y="195072"/>
                  </a:cubicBezTo>
                  <a:cubicBezTo>
                    <a:pt x="390144" y="302768"/>
                    <a:pt x="302768" y="390144"/>
                    <a:pt x="195072" y="390144"/>
                  </a:cubicBezTo>
                  <a:cubicBezTo>
                    <a:pt x="87376" y="390144"/>
                    <a:pt x="0" y="302768"/>
                    <a:pt x="0" y="195072"/>
                  </a:cubicBezTo>
                  <a:close/>
                </a:path>
              </a:pathLst>
            </a:custGeom>
            <a:solidFill>
              <a:srgbClr val="2589C9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390144" cy="399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60"/>
                </a:lnSpc>
              </a:pPr>
              <a:r>
                <a:rPr lang="en-US" b="true" sz="966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978384" y="5163107"/>
            <a:ext cx="4596384" cy="569128"/>
            <a:chOff x="0" y="0"/>
            <a:chExt cx="6128512" cy="75883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128512" cy="758837"/>
            </a:xfrm>
            <a:custGeom>
              <a:avLst/>
              <a:gdLst/>
              <a:ahLst/>
              <a:cxnLst/>
              <a:rect r="r" b="b" t="t" l="l"/>
              <a:pathLst>
                <a:path h="758837" w="6128512">
                  <a:moveTo>
                    <a:pt x="0" y="0"/>
                  </a:moveTo>
                  <a:lnTo>
                    <a:pt x="6128512" y="0"/>
                  </a:lnTo>
                  <a:lnTo>
                    <a:pt x="6128512" y="758837"/>
                  </a:lnTo>
                  <a:lnTo>
                    <a:pt x="0" y="758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558" r="0" b="-10717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6128512" cy="8159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D7E3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Sprint Retrospective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2539472" y="6379150"/>
            <a:ext cx="292608" cy="292608"/>
            <a:chOff x="0" y="0"/>
            <a:chExt cx="390144" cy="39014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cubicBezTo>
                    <a:pt x="302768" y="0"/>
                    <a:pt x="390144" y="87376"/>
                    <a:pt x="390144" y="195072"/>
                  </a:cubicBezTo>
                  <a:cubicBezTo>
                    <a:pt x="390144" y="302768"/>
                    <a:pt x="302768" y="390144"/>
                    <a:pt x="195072" y="390144"/>
                  </a:cubicBezTo>
                  <a:cubicBezTo>
                    <a:pt x="87376" y="390144"/>
                    <a:pt x="0" y="302768"/>
                    <a:pt x="0" y="195072"/>
                  </a:cubicBezTo>
                  <a:close/>
                </a:path>
              </a:pathLst>
            </a:custGeom>
            <a:solidFill>
              <a:srgbClr val="2589C9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390144" cy="399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60"/>
                </a:lnSpc>
              </a:pPr>
              <a:r>
                <a:rPr lang="en-US" b="true" sz="966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2978384" y="6241990"/>
            <a:ext cx="4596384" cy="569128"/>
            <a:chOff x="0" y="0"/>
            <a:chExt cx="6128512" cy="758837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128512" cy="758837"/>
            </a:xfrm>
            <a:custGeom>
              <a:avLst/>
              <a:gdLst/>
              <a:ahLst/>
              <a:cxnLst/>
              <a:rect r="r" b="b" t="t" l="l"/>
              <a:pathLst>
                <a:path h="758837" w="6128512">
                  <a:moveTo>
                    <a:pt x="0" y="0"/>
                  </a:moveTo>
                  <a:lnTo>
                    <a:pt x="6128512" y="0"/>
                  </a:lnTo>
                  <a:lnTo>
                    <a:pt x="6128512" y="758837"/>
                  </a:lnTo>
                  <a:lnTo>
                    <a:pt x="0" y="758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558" r="0" b="-107171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57150"/>
              <a:ext cx="6128512" cy="8159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D7E3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Impediment Log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539472" y="7382346"/>
            <a:ext cx="292608" cy="292608"/>
            <a:chOff x="0" y="0"/>
            <a:chExt cx="390144" cy="39014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cubicBezTo>
                    <a:pt x="302768" y="0"/>
                    <a:pt x="390144" y="87376"/>
                    <a:pt x="390144" y="195072"/>
                  </a:cubicBezTo>
                  <a:cubicBezTo>
                    <a:pt x="390144" y="302768"/>
                    <a:pt x="302768" y="390144"/>
                    <a:pt x="195072" y="390144"/>
                  </a:cubicBezTo>
                  <a:cubicBezTo>
                    <a:pt x="87376" y="390144"/>
                    <a:pt x="0" y="302768"/>
                    <a:pt x="0" y="195072"/>
                  </a:cubicBezTo>
                  <a:close/>
                </a:path>
              </a:pathLst>
            </a:custGeom>
            <a:solidFill>
              <a:srgbClr val="2589C9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390144" cy="399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60"/>
                </a:lnSpc>
              </a:pPr>
              <a:r>
                <a:rPr lang="en-US" b="true" sz="966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2978384" y="7245186"/>
            <a:ext cx="4596384" cy="569128"/>
            <a:chOff x="0" y="0"/>
            <a:chExt cx="6128512" cy="758837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128512" cy="758837"/>
            </a:xfrm>
            <a:custGeom>
              <a:avLst/>
              <a:gdLst/>
              <a:ahLst/>
              <a:cxnLst/>
              <a:rect r="r" b="b" t="t" l="l"/>
              <a:pathLst>
                <a:path h="758837" w="6128512">
                  <a:moveTo>
                    <a:pt x="0" y="0"/>
                  </a:moveTo>
                  <a:lnTo>
                    <a:pt x="6128512" y="0"/>
                  </a:lnTo>
                  <a:lnTo>
                    <a:pt x="6128512" y="758837"/>
                  </a:lnTo>
                  <a:lnTo>
                    <a:pt x="0" y="758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558" r="0" b="-107171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57150"/>
              <a:ext cx="6128512" cy="8159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>
                  <a:solidFill>
                    <a:srgbClr val="D7E3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MVP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6942106" y="5770968"/>
            <a:ext cx="2672804" cy="44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7"/>
              </a:lnSpc>
              <a:spcBef>
                <a:spcPct val="0"/>
              </a:spcBef>
            </a:pPr>
            <a:r>
              <a:rPr lang="en-US" sz="2850">
                <a:solidFill>
                  <a:srgbClr val="F4FBFF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2850">
                <a:solidFill>
                  <a:srgbClr val="F4FBFF"/>
                </a:solidFill>
                <a:latin typeface="Montserrat"/>
                <a:ea typeface="Montserrat"/>
                <a:cs typeface="Montserrat"/>
                <a:sym typeface="Montserrat"/>
              </a:rPr>
              <a:t>print Backlog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6942106" y="6508891"/>
            <a:ext cx="2606873" cy="44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7"/>
              </a:lnSpc>
              <a:spcBef>
                <a:spcPct val="0"/>
              </a:spcBef>
            </a:pPr>
            <a:r>
              <a:rPr lang="en-US" sz="2850">
                <a:solidFill>
                  <a:srgbClr val="F4FBFF"/>
                </a:solidFill>
                <a:latin typeface="Montserrat"/>
                <a:ea typeface="Montserrat"/>
                <a:cs typeface="Montserrat"/>
                <a:sym typeface="Montserrat"/>
              </a:rPr>
              <a:t>Kanban</a:t>
            </a:r>
            <a:r>
              <a:rPr lang="en-US" sz="2850">
                <a:solidFill>
                  <a:srgbClr val="F4FBFF"/>
                </a:solidFill>
                <a:latin typeface="Montserrat"/>
                <a:ea typeface="Montserrat"/>
                <a:cs typeface="Montserrat"/>
                <a:sym typeface="Montserrat"/>
              </a:rPr>
              <a:t> Board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6525768" y="7313213"/>
            <a:ext cx="292608" cy="292608"/>
            <a:chOff x="0" y="0"/>
            <a:chExt cx="390144" cy="39014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cubicBezTo>
                    <a:pt x="302768" y="0"/>
                    <a:pt x="390144" y="87376"/>
                    <a:pt x="390144" y="195072"/>
                  </a:cubicBezTo>
                  <a:cubicBezTo>
                    <a:pt x="390144" y="302768"/>
                    <a:pt x="302768" y="390144"/>
                    <a:pt x="195072" y="390144"/>
                  </a:cubicBezTo>
                  <a:cubicBezTo>
                    <a:pt x="87376" y="390144"/>
                    <a:pt x="0" y="302768"/>
                    <a:pt x="0" y="195072"/>
                  </a:cubicBezTo>
                  <a:close/>
                </a:path>
              </a:pathLst>
            </a:custGeom>
            <a:solidFill>
              <a:srgbClr val="2589C9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390144" cy="399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60"/>
                </a:lnSpc>
              </a:pPr>
              <a:r>
                <a:rPr lang="en-US" b="true" sz="966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sp>
        <p:nvSpPr>
          <p:cNvPr name="TextBox 80" id="80"/>
          <p:cNvSpPr txBox="true"/>
          <p:nvPr/>
        </p:nvSpPr>
        <p:spPr>
          <a:xfrm rot="0">
            <a:off x="6942106" y="7225029"/>
            <a:ext cx="3046065" cy="44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7"/>
              </a:lnSpc>
              <a:spcBef>
                <a:spcPct val="0"/>
              </a:spcBef>
            </a:pPr>
            <a:r>
              <a:rPr lang="en-US" sz="2850">
                <a:solidFill>
                  <a:srgbClr val="F4FBFF"/>
                </a:solidFill>
                <a:latin typeface="Montserrat"/>
                <a:ea typeface="Montserrat"/>
                <a:cs typeface="Montserrat"/>
                <a:sym typeface="Montserrat"/>
              </a:rPr>
              <a:t>Burndown</a:t>
            </a:r>
            <a:r>
              <a:rPr lang="en-US" sz="2850">
                <a:solidFill>
                  <a:srgbClr val="F4FBFF"/>
                </a:solidFill>
                <a:latin typeface="Montserrat"/>
                <a:ea typeface="Montserrat"/>
                <a:cs typeface="Montserrat"/>
                <a:sym typeface="Montserrat"/>
              </a:rPr>
              <a:t> Chart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7373600" y="9163050"/>
            <a:ext cx="76200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 strike="noStrike" u="none">
                <a:solidFill>
                  <a:srgbClr val="F9F7F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3" id="3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28582" y="379514"/>
            <a:ext cx="5345163" cy="649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4500" b="true">
                <a:solidFill>
                  <a:srgbClr val="2E3C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Definición de </a:t>
            </a:r>
            <a:r>
              <a:rPr lang="en-US" sz="4500" b="true">
                <a:solidFill>
                  <a:srgbClr val="2589C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Sprints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5417965" y="9700803"/>
            <a:ext cx="2780138" cy="576196"/>
            <a:chOff x="0" y="0"/>
            <a:chExt cx="3706851" cy="7682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06876" cy="768223"/>
            </a:xfrm>
            <a:custGeom>
              <a:avLst/>
              <a:gdLst/>
              <a:ahLst/>
              <a:cxnLst/>
              <a:rect r="r" b="b" t="t" l="l"/>
              <a:pathLst>
                <a:path h="768223" w="3706876">
                  <a:moveTo>
                    <a:pt x="0" y="0"/>
                  </a:moveTo>
                  <a:lnTo>
                    <a:pt x="3706876" y="0"/>
                  </a:lnTo>
                  <a:lnTo>
                    <a:pt x="3706876" y="768223"/>
                  </a:lnTo>
                  <a:lnTo>
                    <a:pt x="0" y="768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4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373600" y="9163050"/>
            <a:ext cx="76200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 strike="noStrike" u="none">
                <a:solidFill>
                  <a:srgbClr val="2E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15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9144000" y="1537869"/>
            <a:ext cx="0" cy="772043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>
            <a:off x="7337375" y="2855028"/>
            <a:ext cx="180662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8999052" y="2710080"/>
            <a:ext cx="289896" cy="28989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5BAE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99222" y="1606301"/>
            <a:ext cx="5838153" cy="2769618"/>
            <a:chOff x="0" y="0"/>
            <a:chExt cx="1537589" cy="7294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37589" cy="729410"/>
            </a:xfrm>
            <a:custGeom>
              <a:avLst/>
              <a:gdLst/>
              <a:ahLst/>
              <a:cxnLst/>
              <a:rect r="r" b="b" t="t" l="l"/>
              <a:pathLst>
                <a:path h="729410" w="1537589">
                  <a:moveTo>
                    <a:pt x="1537589" y="80892"/>
                  </a:moveTo>
                  <a:lnTo>
                    <a:pt x="1537589" y="648519"/>
                  </a:lnTo>
                  <a:cubicBezTo>
                    <a:pt x="1537589" y="669972"/>
                    <a:pt x="1529067" y="690547"/>
                    <a:pt x="1513896" y="705717"/>
                  </a:cubicBezTo>
                  <a:cubicBezTo>
                    <a:pt x="1498726" y="720888"/>
                    <a:pt x="1478151" y="729410"/>
                    <a:pt x="1456698" y="729410"/>
                  </a:cubicBezTo>
                  <a:lnTo>
                    <a:pt x="80892" y="729410"/>
                  </a:lnTo>
                  <a:cubicBezTo>
                    <a:pt x="59438" y="729410"/>
                    <a:pt x="38863" y="720888"/>
                    <a:pt x="23693" y="705717"/>
                  </a:cubicBezTo>
                  <a:cubicBezTo>
                    <a:pt x="8522" y="690547"/>
                    <a:pt x="0" y="669972"/>
                    <a:pt x="0" y="648519"/>
                  </a:cubicBezTo>
                  <a:lnTo>
                    <a:pt x="0" y="80892"/>
                  </a:lnTo>
                  <a:cubicBezTo>
                    <a:pt x="0" y="59438"/>
                    <a:pt x="8522" y="38863"/>
                    <a:pt x="23693" y="23693"/>
                  </a:cubicBezTo>
                  <a:cubicBezTo>
                    <a:pt x="38863" y="8522"/>
                    <a:pt x="59438" y="0"/>
                    <a:pt x="80892" y="0"/>
                  </a:cubicBezTo>
                  <a:lnTo>
                    <a:pt x="1456698" y="0"/>
                  </a:lnTo>
                  <a:cubicBezTo>
                    <a:pt x="1501373" y="0"/>
                    <a:pt x="1537589" y="36216"/>
                    <a:pt x="1537589" y="80892"/>
                  </a:cubicBezTo>
                  <a:close/>
                </a:path>
              </a:pathLst>
            </a:custGeom>
            <a:solidFill>
              <a:srgbClr val="F8CBA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85725"/>
              <a:ext cx="1537589" cy="815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8"/>
                </a:lnSpc>
              </a:pPr>
            </a:p>
            <a:p>
              <a:pPr algn="ctr">
                <a:lnSpc>
                  <a:spcPts val="3118"/>
                </a:lnSpc>
              </a:pPr>
              <a:r>
                <a:rPr lang="en-US" sz="1963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Sprint 0:</a:t>
              </a:r>
              <a:r>
                <a:rPr lang="en-US" sz="1963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1963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Infraestructura y Base de Datos</a:t>
              </a:r>
            </a:p>
            <a:p>
              <a:pPr algn="ctr">
                <a:lnSpc>
                  <a:spcPts val="3118"/>
                </a:lnSpc>
              </a:pPr>
              <a:r>
                <a:rPr lang="en-US" sz="1963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Levantamiento inicial y configuración de la infraestructura esencial. Se prepara la base de datos relacional y el repositorio, asegurando la plataforma para el desarrollo futuro.</a:t>
              </a:r>
            </a:p>
            <a:p>
              <a:pPr algn="l">
                <a:lnSpc>
                  <a:spcPts val="280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53750" y="3346325"/>
            <a:ext cx="5838153" cy="2615160"/>
            <a:chOff x="0" y="0"/>
            <a:chExt cx="1537589" cy="6887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37589" cy="688732"/>
            </a:xfrm>
            <a:custGeom>
              <a:avLst/>
              <a:gdLst/>
              <a:ahLst/>
              <a:cxnLst/>
              <a:rect r="r" b="b" t="t" l="l"/>
              <a:pathLst>
                <a:path h="688732" w="1537589">
                  <a:moveTo>
                    <a:pt x="1537589" y="80892"/>
                  </a:moveTo>
                  <a:lnTo>
                    <a:pt x="1537589" y="607841"/>
                  </a:lnTo>
                  <a:cubicBezTo>
                    <a:pt x="1537589" y="629294"/>
                    <a:pt x="1529067" y="649869"/>
                    <a:pt x="1513896" y="665039"/>
                  </a:cubicBezTo>
                  <a:cubicBezTo>
                    <a:pt x="1498726" y="680210"/>
                    <a:pt x="1478151" y="688732"/>
                    <a:pt x="1456698" y="688732"/>
                  </a:cubicBezTo>
                  <a:lnTo>
                    <a:pt x="80892" y="688732"/>
                  </a:lnTo>
                  <a:cubicBezTo>
                    <a:pt x="59438" y="688732"/>
                    <a:pt x="38863" y="680210"/>
                    <a:pt x="23693" y="665039"/>
                  </a:cubicBezTo>
                  <a:cubicBezTo>
                    <a:pt x="8522" y="649869"/>
                    <a:pt x="0" y="629294"/>
                    <a:pt x="0" y="607841"/>
                  </a:cubicBezTo>
                  <a:lnTo>
                    <a:pt x="0" y="80892"/>
                  </a:lnTo>
                  <a:cubicBezTo>
                    <a:pt x="0" y="59438"/>
                    <a:pt x="8522" y="38863"/>
                    <a:pt x="23693" y="23693"/>
                  </a:cubicBezTo>
                  <a:cubicBezTo>
                    <a:pt x="38863" y="8522"/>
                    <a:pt x="59438" y="0"/>
                    <a:pt x="80892" y="0"/>
                  </a:cubicBezTo>
                  <a:lnTo>
                    <a:pt x="1456698" y="0"/>
                  </a:lnTo>
                  <a:cubicBezTo>
                    <a:pt x="1501373" y="0"/>
                    <a:pt x="1537589" y="36216"/>
                    <a:pt x="1537589" y="80892"/>
                  </a:cubicBezTo>
                  <a:close/>
                </a:path>
              </a:pathLst>
            </a:custGeom>
            <a:solidFill>
              <a:srgbClr val="D9EAD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85725"/>
              <a:ext cx="1537589" cy="774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8"/>
                </a:lnSpc>
              </a:pPr>
              <a:r>
                <a:rPr lang="en-US" sz="1963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Sprint 1: Flujo de Cajero</a:t>
              </a:r>
            </a:p>
            <a:p>
              <a:pPr algn="ctr">
                <a:lnSpc>
                  <a:spcPts val="3118"/>
                </a:lnSpc>
              </a:pPr>
              <a:r>
                <a:rPr lang="en-US" sz="1963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Desarrollo intensivo del sistema de punto de venta, incluyendo autenticación de usuarios, lectura de códigos de barra (cámara y pistola) y gestión completa del carrito de compras.</a:t>
              </a:r>
            </a:p>
            <a:p>
              <a:pPr algn="ctr">
                <a:lnSpc>
                  <a:spcPts val="3436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99222" y="5143500"/>
            <a:ext cx="5838153" cy="3626633"/>
            <a:chOff x="0" y="0"/>
            <a:chExt cx="1537589" cy="95511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37589" cy="955115"/>
            </a:xfrm>
            <a:custGeom>
              <a:avLst/>
              <a:gdLst/>
              <a:ahLst/>
              <a:cxnLst/>
              <a:rect r="r" b="b" t="t" l="l"/>
              <a:pathLst>
                <a:path h="955115" w="1537589">
                  <a:moveTo>
                    <a:pt x="1537589" y="80892"/>
                  </a:moveTo>
                  <a:lnTo>
                    <a:pt x="1537589" y="874223"/>
                  </a:lnTo>
                  <a:cubicBezTo>
                    <a:pt x="1537589" y="895677"/>
                    <a:pt x="1529067" y="916252"/>
                    <a:pt x="1513896" y="931422"/>
                  </a:cubicBezTo>
                  <a:cubicBezTo>
                    <a:pt x="1498726" y="946592"/>
                    <a:pt x="1478151" y="955115"/>
                    <a:pt x="1456698" y="955115"/>
                  </a:cubicBezTo>
                  <a:lnTo>
                    <a:pt x="80892" y="955115"/>
                  </a:lnTo>
                  <a:cubicBezTo>
                    <a:pt x="59438" y="955115"/>
                    <a:pt x="38863" y="946592"/>
                    <a:pt x="23693" y="931422"/>
                  </a:cubicBezTo>
                  <a:cubicBezTo>
                    <a:pt x="8522" y="916252"/>
                    <a:pt x="0" y="895677"/>
                    <a:pt x="0" y="874223"/>
                  </a:cubicBezTo>
                  <a:lnTo>
                    <a:pt x="0" y="80892"/>
                  </a:lnTo>
                  <a:cubicBezTo>
                    <a:pt x="0" y="59438"/>
                    <a:pt x="8522" y="38863"/>
                    <a:pt x="23693" y="23693"/>
                  </a:cubicBezTo>
                  <a:cubicBezTo>
                    <a:pt x="38863" y="8522"/>
                    <a:pt x="59438" y="0"/>
                    <a:pt x="80892" y="0"/>
                  </a:cubicBezTo>
                  <a:lnTo>
                    <a:pt x="1456698" y="0"/>
                  </a:lnTo>
                  <a:cubicBezTo>
                    <a:pt x="1501373" y="0"/>
                    <a:pt x="1537589" y="36216"/>
                    <a:pt x="1537589" y="80892"/>
                  </a:cubicBezTo>
                  <a:close/>
                </a:path>
              </a:pathLst>
            </a:custGeom>
            <a:solidFill>
              <a:srgbClr val="FFF2CC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85725"/>
              <a:ext cx="1537589" cy="1040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8"/>
                </a:lnSpc>
              </a:pPr>
            </a:p>
            <a:p>
              <a:pPr algn="ctr">
                <a:lnSpc>
                  <a:spcPts val="3118"/>
                </a:lnSpc>
              </a:pPr>
              <a:r>
                <a:rPr lang="en-US" sz="1963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Sprint 2: Backend e Inventario Crítico</a:t>
              </a:r>
            </a:p>
            <a:p>
              <a:pPr algn="ctr">
                <a:lnSpc>
                  <a:spcPts val="3118"/>
                </a:lnSpc>
              </a:pPr>
              <a:r>
                <a:rPr lang="en-US" sz="1963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Integración de procesos complejos de backend e inventario. Se implementa la creación de productos compuestos, la deducción automática de insumos y el monitoreo de stock en tiempo real vía WebSockets.</a:t>
              </a:r>
            </a:p>
            <a:p>
              <a:pPr algn="ctr">
                <a:lnSpc>
                  <a:spcPts val="3436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953750" y="6654490"/>
            <a:ext cx="5838153" cy="3236108"/>
            <a:chOff x="0" y="0"/>
            <a:chExt cx="1537589" cy="85226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37589" cy="852266"/>
            </a:xfrm>
            <a:custGeom>
              <a:avLst/>
              <a:gdLst/>
              <a:ahLst/>
              <a:cxnLst/>
              <a:rect r="r" b="b" t="t" l="l"/>
              <a:pathLst>
                <a:path h="852266" w="1537589">
                  <a:moveTo>
                    <a:pt x="1537589" y="80892"/>
                  </a:moveTo>
                  <a:lnTo>
                    <a:pt x="1537589" y="771374"/>
                  </a:lnTo>
                  <a:cubicBezTo>
                    <a:pt x="1537589" y="792828"/>
                    <a:pt x="1529067" y="813403"/>
                    <a:pt x="1513896" y="828573"/>
                  </a:cubicBezTo>
                  <a:cubicBezTo>
                    <a:pt x="1498726" y="843743"/>
                    <a:pt x="1478151" y="852266"/>
                    <a:pt x="1456698" y="852266"/>
                  </a:cubicBezTo>
                  <a:lnTo>
                    <a:pt x="80892" y="852266"/>
                  </a:lnTo>
                  <a:cubicBezTo>
                    <a:pt x="59438" y="852266"/>
                    <a:pt x="38863" y="843743"/>
                    <a:pt x="23693" y="828573"/>
                  </a:cubicBezTo>
                  <a:cubicBezTo>
                    <a:pt x="8522" y="813403"/>
                    <a:pt x="0" y="792828"/>
                    <a:pt x="0" y="771374"/>
                  </a:cubicBezTo>
                  <a:lnTo>
                    <a:pt x="0" y="80892"/>
                  </a:lnTo>
                  <a:cubicBezTo>
                    <a:pt x="0" y="59438"/>
                    <a:pt x="8522" y="38863"/>
                    <a:pt x="23693" y="23693"/>
                  </a:cubicBezTo>
                  <a:cubicBezTo>
                    <a:pt x="38863" y="8522"/>
                    <a:pt x="59438" y="0"/>
                    <a:pt x="80892" y="0"/>
                  </a:cubicBezTo>
                  <a:lnTo>
                    <a:pt x="1456698" y="0"/>
                  </a:lnTo>
                  <a:cubicBezTo>
                    <a:pt x="1501373" y="0"/>
                    <a:pt x="1537589" y="36216"/>
                    <a:pt x="1537589" y="80892"/>
                  </a:cubicBezTo>
                  <a:close/>
                </a:path>
              </a:pathLst>
            </a:custGeom>
            <a:solidFill>
              <a:srgbClr val="F4CCCC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85725"/>
              <a:ext cx="1537589" cy="937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8"/>
                </a:lnSpc>
              </a:pPr>
            </a:p>
            <a:p>
              <a:pPr algn="ctr">
                <a:lnSpc>
                  <a:spcPts val="3118"/>
                </a:lnSpc>
              </a:pPr>
              <a:r>
                <a:rPr lang="en-US" sz="1963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Sprint 3: Reportes, IA y Administración</a:t>
              </a:r>
            </a:p>
            <a:p>
              <a:pPr algn="ctr">
                <a:lnSpc>
                  <a:spcPts val="3118"/>
                </a:lnSpc>
              </a:pPr>
              <a:r>
                <a:rPr lang="en-US" sz="1963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Consolidación del valor de negocio con el desarrollo del algoritmo de IA, la generación de reportes filtrados, y la administración de perfiles de usuario y promociones. Validamos el producto final con el cliente.</a:t>
              </a:r>
            </a:p>
            <a:p>
              <a:pPr algn="ctr">
                <a:lnSpc>
                  <a:spcPts val="3436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 flipH="true">
            <a:off x="9144000" y="4595053"/>
            <a:ext cx="180662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H="true">
            <a:off x="7337375" y="6373178"/>
            <a:ext cx="180662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H="true">
            <a:off x="9144000" y="8146645"/>
            <a:ext cx="180662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8999052" y="4469155"/>
            <a:ext cx="289896" cy="289896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5BAE6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999052" y="6225901"/>
            <a:ext cx="289896" cy="289896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5BAE6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002176" y="7982647"/>
            <a:ext cx="289896" cy="289896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5BAE6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3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16340" y="1768169"/>
            <a:ext cx="13855321" cy="7989352"/>
          </a:xfrm>
          <a:custGeom>
            <a:avLst/>
            <a:gdLst/>
            <a:ahLst/>
            <a:cxnLst/>
            <a:rect r="r" b="b" t="t" l="l"/>
            <a:pathLst>
              <a:path h="7989352" w="13855321">
                <a:moveTo>
                  <a:pt x="0" y="0"/>
                </a:moveTo>
                <a:lnTo>
                  <a:pt x="13855320" y="0"/>
                </a:lnTo>
                <a:lnTo>
                  <a:pt x="13855320" y="7989353"/>
                </a:lnTo>
                <a:lnTo>
                  <a:pt x="0" y="79893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46995" y="667788"/>
            <a:ext cx="8979729" cy="758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50"/>
              </a:lnSpc>
            </a:pPr>
            <a:r>
              <a:rPr lang="en-US" sz="4500" b="true">
                <a:solidFill>
                  <a:srgbClr val="2589C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Cronograma</a:t>
            </a:r>
            <a:r>
              <a:rPr lang="en-US" sz="4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Carta Gantt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373600" y="9163050"/>
            <a:ext cx="76200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3165" y="1019175"/>
            <a:ext cx="7916466" cy="72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500" b="true">
                <a:solidFill>
                  <a:srgbClr val="2589C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Conclusiones</a:t>
            </a:r>
            <a:r>
              <a:rPr lang="en-US" sz="4500" b="true">
                <a:solidFill>
                  <a:srgbClr val="2E3C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y Próximos Pasos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686142"/>
            <a:ext cx="4917691" cy="539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2"/>
              </a:lnSpc>
            </a:pPr>
            <a:r>
              <a:rPr lang="en-US" sz="3420" b="true">
                <a:solidFill>
                  <a:srgbClr val="2E3C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Impacto de NuryBase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495675"/>
            <a:ext cx="6667500" cy="451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34"/>
              </a:lnSpc>
              <a:spcBef>
                <a:spcPct val="0"/>
              </a:spcBef>
            </a:pPr>
            <a:r>
              <a:rPr lang="en-US" sz="2540" strike="noStrike" u="non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• Control preciso de inventario en tiempo real en 8 sucursales</a:t>
            </a:r>
          </a:p>
          <a:p>
            <a:pPr algn="l" marL="0" indent="0" lvl="0">
              <a:lnSpc>
                <a:spcPts val="4034"/>
              </a:lnSpc>
              <a:spcBef>
                <a:spcPct val="0"/>
              </a:spcBef>
            </a:pPr>
            <a:r>
              <a:rPr lang="en-US" sz="2540" strike="noStrike" u="non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• Trazabilidad completa de ventas por sucursal, cajero y producto</a:t>
            </a:r>
          </a:p>
          <a:p>
            <a:pPr algn="l" marL="0" indent="0" lvl="0">
              <a:lnSpc>
                <a:spcPts val="4034"/>
              </a:lnSpc>
              <a:spcBef>
                <a:spcPct val="0"/>
              </a:spcBef>
            </a:pPr>
            <a:r>
              <a:rPr lang="en-US" sz="2540" strike="noStrike" u="non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• Eliminación de descuadres de stock mediante gestión automatizada de recetas</a:t>
            </a:r>
          </a:p>
          <a:p>
            <a:pPr algn="l" marL="0" indent="0" lvl="0">
              <a:lnSpc>
                <a:spcPts val="4034"/>
              </a:lnSpc>
              <a:spcBef>
                <a:spcPct val="0"/>
              </a:spcBef>
            </a:pPr>
            <a:r>
              <a:rPr lang="en-US" sz="2540" strike="noStrike" u="non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• Reportes consolidados para mejor toma de decisiones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59630" y="2686142"/>
            <a:ext cx="4431493" cy="57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2"/>
              </a:lnSpc>
            </a:pPr>
            <a:r>
              <a:rPr lang="en-US" sz="3419" b="true">
                <a:solidFill>
                  <a:srgbClr val="2E3C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Desarrollo Continuo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858250" y="3495675"/>
            <a:ext cx="7012786" cy="2529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34"/>
              </a:lnSpc>
              <a:spcBef>
                <a:spcPct val="0"/>
              </a:spcBef>
            </a:pPr>
            <a:r>
              <a:rPr lang="en-US" sz="2539" strike="noStrike" u="non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• Implementación por fases (Sprints 0-3)</a:t>
            </a:r>
          </a:p>
          <a:p>
            <a:pPr algn="l" marL="0" indent="0" lvl="0">
              <a:lnSpc>
                <a:spcPts val="4034"/>
              </a:lnSpc>
              <a:spcBef>
                <a:spcPct val="0"/>
              </a:spcBef>
            </a:pPr>
            <a:r>
              <a:rPr lang="en-US" sz="2539" strike="noStrike" u="non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• Capacitación del personal en todas las sucursales</a:t>
            </a:r>
          </a:p>
          <a:p>
            <a:pPr algn="l" marL="0" indent="0" lvl="0">
              <a:lnSpc>
                <a:spcPts val="4034"/>
              </a:lnSpc>
              <a:spcBef>
                <a:spcPct val="0"/>
              </a:spcBef>
            </a:pPr>
            <a:r>
              <a:rPr lang="en-US" sz="2539" strike="noStrike" u="non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• Monitoreo y ajustes post-implementación</a:t>
            </a:r>
          </a:p>
          <a:p>
            <a:pPr algn="l" marL="0" indent="0" lvl="0">
              <a:lnSpc>
                <a:spcPts val="4034"/>
              </a:lnSpc>
              <a:spcBef>
                <a:spcPct val="0"/>
              </a:spcBef>
            </a:pPr>
            <a:r>
              <a:rPr lang="en-US" sz="2539" strike="noStrike" u="none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• Escalabilidad para futuras sucursales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373600" y="9163050"/>
            <a:ext cx="76200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 strike="noStrike" u="none">
                <a:solidFill>
                  <a:srgbClr val="2E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343" y="70182"/>
            <a:ext cx="5701608" cy="72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500" b="true">
                <a:solidFill>
                  <a:srgbClr val="2E3C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Reflexiones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69374" y="2297032"/>
            <a:ext cx="3989385" cy="5093135"/>
            <a:chOff x="0" y="0"/>
            <a:chExt cx="5223340" cy="66684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23429" cy="6668516"/>
            </a:xfrm>
            <a:custGeom>
              <a:avLst/>
              <a:gdLst/>
              <a:ahLst/>
              <a:cxnLst/>
              <a:rect r="r" b="b" t="t" l="l"/>
              <a:pathLst>
                <a:path h="6668516" w="5223429">
                  <a:moveTo>
                    <a:pt x="0" y="545846"/>
                  </a:moveTo>
                  <a:cubicBezTo>
                    <a:pt x="0" y="244348"/>
                    <a:pt x="179876" y="0"/>
                    <a:pt x="401822" y="0"/>
                  </a:cubicBezTo>
                  <a:lnTo>
                    <a:pt x="4821584" y="0"/>
                  </a:lnTo>
                  <a:cubicBezTo>
                    <a:pt x="5043530" y="0"/>
                    <a:pt x="5223429" y="244348"/>
                    <a:pt x="5223429" y="545846"/>
                  </a:cubicBezTo>
                  <a:lnTo>
                    <a:pt x="5223429" y="6122670"/>
                  </a:lnTo>
                  <a:cubicBezTo>
                    <a:pt x="5223429" y="6424168"/>
                    <a:pt x="5043530" y="6668516"/>
                    <a:pt x="4821584" y="6668516"/>
                  </a:cubicBezTo>
                  <a:lnTo>
                    <a:pt x="401822" y="6668516"/>
                  </a:lnTo>
                  <a:cubicBezTo>
                    <a:pt x="179876" y="6668516"/>
                    <a:pt x="0" y="6424168"/>
                    <a:pt x="0" y="612267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BACFDD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595426" y="1420941"/>
            <a:ext cx="3033433" cy="876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00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Nelson </a:t>
            </a:r>
          </a:p>
          <a:p>
            <a:pPr algn="l">
              <a:lnSpc>
                <a:spcPts val="3564"/>
              </a:lnSpc>
            </a:pPr>
            <a:r>
              <a:rPr lang="en-US" sz="2800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Alfaro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8598" y="2417814"/>
            <a:ext cx="3294756" cy="415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163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Sobre el negocio: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898515" y="2297032"/>
            <a:ext cx="3989385" cy="5093135"/>
            <a:chOff x="0" y="0"/>
            <a:chExt cx="5223340" cy="66684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23429" cy="6668516"/>
            </a:xfrm>
            <a:custGeom>
              <a:avLst/>
              <a:gdLst/>
              <a:ahLst/>
              <a:cxnLst/>
              <a:rect r="r" b="b" t="t" l="l"/>
              <a:pathLst>
                <a:path h="6668516" w="5223429">
                  <a:moveTo>
                    <a:pt x="0" y="545846"/>
                  </a:moveTo>
                  <a:cubicBezTo>
                    <a:pt x="0" y="244348"/>
                    <a:pt x="179876" y="0"/>
                    <a:pt x="401822" y="0"/>
                  </a:cubicBezTo>
                  <a:lnTo>
                    <a:pt x="4821584" y="0"/>
                  </a:lnTo>
                  <a:cubicBezTo>
                    <a:pt x="5043530" y="0"/>
                    <a:pt x="5223429" y="244348"/>
                    <a:pt x="5223429" y="545846"/>
                  </a:cubicBezTo>
                  <a:lnTo>
                    <a:pt x="5223429" y="6122670"/>
                  </a:lnTo>
                  <a:cubicBezTo>
                    <a:pt x="5223429" y="6424168"/>
                    <a:pt x="5043530" y="6668516"/>
                    <a:pt x="4821584" y="6668516"/>
                  </a:cubicBezTo>
                  <a:lnTo>
                    <a:pt x="401822" y="6668516"/>
                  </a:lnTo>
                  <a:cubicBezTo>
                    <a:pt x="179876" y="6668516"/>
                    <a:pt x="0" y="6424168"/>
                    <a:pt x="0" y="612267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BACFDD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5145316" y="1420941"/>
            <a:ext cx="3294756" cy="876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00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Patricio </a:t>
            </a:r>
          </a:p>
          <a:p>
            <a:pPr algn="l">
              <a:lnSpc>
                <a:spcPts val="3564"/>
              </a:lnSpc>
            </a:pPr>
            <a:r>
              <a:rPr lang="en-US" sz="2800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Menares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07740" y="2364465"/>
            <a:ext cx="3294756" cy="85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163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Sobre el desafío técnico: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226629" y="2297032"/>
            <a:ext cx="3989385" cy="5093135"/>
            <a:chOff x="0" y="0"/>
            <a:chExt cx="5223340" cy="66684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23429" cy="6668516"/>
            </a:xfrm>
            <a:custGeom>
              <a:avLst/>
              <a:gdLst/>
              <a:ahLst/>
              <a:cxnLst/>
              <a:rect r="r" b="b" t="t" l="l"/>
              <a:pathLst>
                <a:path h="6668516" w="5223429">
                  <a:moveTo>
                    <a:pt x="0" y="545846"/>
                  </a:moveTo>
                  <a:cubicBezTo>
                    <a:pt x="0" y="244348"/>
                    <a:pt x="179876" y="0"/>
                    <a:pt x="401822" y="0"/>
                  </a:cubicBezTo>
                  <a:lnTo>
                    <a:pt x="4821584" y="0"/>
                  </a:lnTo>
                  <a:cubicBezTo>
                    <a:pt x="5043530" y="0"/>
                    <a:pt x="5223429" y="244348"/>
                    <a:pt x="5223429" y="545846"/>
                  </a:cubicBezTo>
                  <a:lnTo>
                    <a:pt x="5223429" y="6122670"/>
                  </a:lnTo>
                  <a:cubicBezTo>
                    <a:pt x="5223429" y="6424168"/>
                    <a:pt x="5043530" y="6668516"/>
                    <a:pt x="4821584" y="6668516"/>
                  </a:cubicBezTo>
                  <a:lnTo>
                    <a:pt x="401822" y="6668516"/>
                  </a:lnTo>
                  <a:cubicBezTo>
                    <a:pt x="179876" y="6668516"/>
                    <a:pt x="0" y="6424168"/>
                    <a:pt x="0" y="612267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BACFDD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9476832" y="1375467"/>
            <a:ext cx="3056773" cy="876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00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Maher </a:t>
            </a:r>
          </a:p>
          <a:p>
            <a:pPr algn="l">
              <a:lnSpc>
                <a:spcPts val="3564"/>
              </a:lnSpc>
            </a:pPr>
            <a:r>
              <a:rPr lang="en-US" sz="2800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Darwish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73058" y="2364465"/>
            <a:ext cx="3696527" cy="85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163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Sobre la arquitectura/concurrencia: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874813" y="2297032"/>
            <a:ext cx="3989385" cy="5093135"/>
            <a:chOff x="0" y="0"/>
            <a:chExt cx="5223340" cy="66684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23429" cy="6668516"/>
            </a:xfrm>
            <a:custGeom>
              <a:avLst/>
              <a:gdLst/>
              <a:ahLst/>
              <a:cxnLst/>
              <a:rect r="r" b="b" t="t" l="l"/>
              <a:pathLst>
                <a:path h="6668516" w="5223429">
                  <a:moveTo>
                    <a:pt x="0" y="545846"/>
                  </a:moveTo>
                  <a:cubicBezTo>
                    <a:pt x="0" y="244348"/>
                    <a:pt x="179876" y="0"/>
                    <a:pt x="401822" y="0"/>
                  </a:cubicBezTo>
                  <a:lnTo>
                    <a:pt x="4821584" y="0"/>
                  </a:lnTo>
                  <a:cubicBezTo>
                    <a:pt x="5043530" y="0"/>
                    <a:pt x="5223429" y="244348"/>
                    <a:pt x="5223429" y="545846"/>
                  </a:cubicBezTo>
                  <a:lnTo>
                    <a:pt x="5223429" y="6122670"/>
                  </a:lnTo>
                  <a:cubicBezTo>
                    <a:pt x="5223429" y="6424168"/>
                    <a:pt x="5043530" y="6668516"/>
                    <a:pt x="4821584" y="6668516"/>
                  </a:cubicBezTo>
                  <a:lnTo>
                    <a:pt x="401822" y="6668516"/>
                  </a:lnTo>
                  <a:cubicBezTo>
                    <a:pt x="179876" y="6668516"/>
                    <a:pt x="0" y="6424168"/>
                    <a:pt x="0" y="612267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BACFDD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4132842" y="1375467"/>
            <a:ext cx="3294756" cy="87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2800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Sebastian Sepulveda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964544" y="2417814"/>
            <a:ext cx="3294756" cy="415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163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Sobre metodología: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78598" y="3832319"/>
            <a:ext cx="3713853" cy="308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3"/>
              </a:lnSpc>
              <a:spcBef>
                <a:spcPct val="0"/>
              </a:spcBef>
            </a:pPr>
            <a:r>
              <a:rPr lang="en-US" sz="213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"</a:t>
            </a:r>
            <a:r>
              <a:rPr lang="en-US" sz="2132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Este proyecto nos hizo entender que el problema de Nury's no era solo vender más rápido, sino no tener visibilidad real de qué producto se vende en cada local — sin eso, es imposible tomar buenas decisiones de compra.</a:t>
            </a:r>
            <a:r>
              <a:rPr lang="en-US" sz="213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"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898515" y="3936901"/>
            <a:ext cx="4081313" cy="299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8"/>
              </a:lnSpc>
              <a:spcBef>
                <a:spcPct val="0"/>
              </a:spcBef>
            </a:pPr>
            <a:r>
              <a:rPr lang="en-US" sz="2080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"</a:t>
            </a:r>
            <a:r>
              <a:rPr lang="en-US" sz="2080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El mayor desafío no fue el punto de venta en sí, sino diseñar bien el modelo de recetas/componentes: un producto como 'pan con queso' obliga a pensar el inventario de forma mucho más fina que un simple código de barras."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26629" y="3652362"/>
            <a:ext cx="3922776" cy="3522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3"/>
              </a:lnSpc>
              <a:spcBef>
                <a:spcPct val="0"/>
              </a:spcBef>
            </a:pPr>
            <a:r>
              <a:rPr lang="en-US" sz="2218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"Trabajar con 8 loca</a:t>
            </a:r>
            <a:r>
              <a:rPr lang="en-US" sz="2218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les simultáneos nos hizo valorar la importancia de un diseño transaccional sólido — evitar que dos ventas al mismo tiempo descuadren el stock no es un detalle menor, es la base de la confiabilidad del sistema."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095474" y="3541899"/>
            <a:ext cx="3369492" cy="3712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7"/>
              </a:lnSpc>
              <a:spcBef>
                <a:spcPct val="0"/>
              </a:spcBef>
            </a:pPr>
            <a:r>
              <a:rPr lang="en-US" sz="2315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"Trabajar con Scrum nos permitió avanzar por módu</a:t>
            </a:r>
            <a:r>
              <a:rPr lang="en-US" sz="2315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los concretos (usuarios, ventas, inventario) sin perder de vista el objetivo final, y adaptarnos cuando el alcance del proyecto se fue afinando."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373600" y="9163050"/>
            <a:ext cx="76200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 strike="noStrike" u="none">
                <a:solidFill>
                  <a:srgbClr val="2E3C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DAHTOK_k9Ro</dc:identifier>
  <dcterms:modified xsi:type="dcterms:W3CDTF">2011-08-01T06:04:30Z</dcterms:modified>
  <cp:revision>1</cp:revision>
  <dc:title>NuryBase_Presentacion_1.pptx</dc:title>
</cp:coreProperties>
</file>